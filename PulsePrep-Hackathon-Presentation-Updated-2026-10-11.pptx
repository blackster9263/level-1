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f5bf24711e4929" /><Relationship Type="http://schemas.openxmlformats.org/officeDocument/2006/relationships/extended-properties" Target="/docProps/app.xml" Id="Rbd1a9cbc734146b3" /><Relationship Type="http://schemas.openxmlformats.org/officeDocument/2006/relationships/officeDocument" Target="/ppt/presentation.xml" Id="R75180c4d0f6a4e85" /></Relationships>
</file>

<file path=ppt/presentation.xml><?xml version="1.0" encoding="utf-8"?>
<p:presentation xmlns:p="http://schemas.openxmlformats.org/presentationml/2006/main">
  <p:sldMasterIdLst>
    <p:sldMasterId xmlns:r="http://schemas.openxmlformats.org/officeDocument/2006/relationships" id="2147483648" r:id="Ra39e37f8af824d89"/>
  </p:sldMasterIdLst>
  <p:notesMasterIdLst>
    <p:notesMasterId xmlns:r="http://schemas.openxmlformats.org/officeDocument/2006/relationships" r:id="R6530c50505cd47a4"/>
  </p:notesMasterIdLst>
  <p:sldIdLst>
    <p:sldId xmlns:r="http://schemas.openxmlformats.org/officeDocument/2006/relationships" id="256" r:id="Ra4d3067c4aea452c"/>
    <p:sldId xmlns:r="http://schemas.openxmlformats.org/officeDocument/2006/relationships" id="257" r:id="R7a363289727e4245"/>
    <p:sldId xmlns:r="http://schemas.openxmlformats.org/officeDocument/2006/relationships" id="258" r:id="Rc7ac3c36f71e4f83"/>
    <p:sldId xmlns:r="http://schemas.openxmlformats.org/officeDocument/2006/relationships" id="259" r:id="R7dbc03b86e1d4953"/>
    <p:sldId xmlns:r="http://schemas.openxmlformats.org/officeDocument/2006/relationships" id="260" r:id="Rbc2f11e2433e411e"/>
    <p:sldId xmlns:r="http://schemas.openxmlformats.org/officeDocument/2006/relationships" id="261" r:id="R20d37f28f5c94a31"/>
    <p:sldId xmlns:r="http://schemas.openxmlformats.org/officeDocument/2006/relationships" id="262" r:id="Rc2313c7c2afb43f5"/>
    <p:sldId xmlns:r="http://schemas.openxmlformats.org/officeDocument/2006/relationships" id="263" r:id="R11973d4896c64f1b"/>
    <p:sldId xmlns:r="http://schemas.openxmlformats.org/officeDocument/2006/relationships" id="264" r:id="R5eb08412b5aa4bbf"/>
    <p:sldId xmlns:r="http://schemas.openxmlformats.org/officeDocument/2006/relationships" id="265" r:id="R7b2bf0a022a64f7a"/>
    <p:sldId xmlns:r="http://schemas.openxmlformats.org/officeDocument/2006/relationships" id="266" r:id="Rd6a73d23e22347d6"/>
    <p:sldId xmlns:r="http://schemas.openxmlformats.org/officeDocument/2006/relationships" id="267" r:id="Rfd8a4c177930453f"/>
    <p:sldId xmlns:r="http://schemas.openxmlformats.org/officeDocument/2006/relationships" id="268" r:id="Rc682eb8bc6ae4c79"/>
    <p:sldId xmlns:r="http://schemas.openxmlformats.org/officeDocument/2006/relationships" id="269" r:id="Re6eab8186a8347df"/>
  </p:sldIdLst>
  <p:sldSz cx="9144000" cy="51435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47e227459094872" /><Relationship Type="http://schemas.openxmlformats.org/officeDocument/2006/relationships/slideMaster" Target="/ppt/slideMasters/slideMaster1.xml" Id="Ra39e37f8af824d89" /><Relationship Type="http://schemas.openxmlformats.org/officeDocument/2006/relationships/notesMaster" Target="/ppt/notesMasters/notesMaster1.xml" Id="R6530c50505cd47a4" /><Relationship Type="http://schemas.openxmlformats.org/officeDocument/2006/relationships/presProps" Target="/ppt/presProps.xml" Id="Rd07422d7444a4ad4" /><Relationship Type="http://schemas.openxmlformats.org/officeDocument/2006/relationships/viewProps" Target="/ppt/viewProps.xml" Id="Rb4a5c64c661f4359" /><Relationship Type="http://schemas.openxmlformats.org/officeDocument/2006/relationships/tableStyles" Target="/ppt/tableStyles.xml" Id="Rcc305610326e4f45" /><Relationship Type="http://schemas.openxmlformats.org/officeDocument/2006/relationships/slide" Target="/ppt/slides/slide1.xml" Id="Ra4d3067c4aea452c" /><Relationship Type="http://schemas.openxmlformats.org/officeDocument/2006/relationships/slide" Target="/ppt/slides/slide2.xml" Id="R7a363289727e4245" /><Relationship Type="http://schemas.openxmlformats.org/officeDocument/2006/relationships/slide" Target="/ppt/slides/slide3.xml" Id="Rc7ac3c36f71e4f83" /><Relationship Type="http://schemas.openxmlformats.org/officeDocument/2006/relationships/slide" Target="/ppt/slides/slide4.xml" Id="R7dbc03b86e1d4953" /><Relationship Type="http://schemas.openxmlformats.org/officeDocument/2006/relationships/slide" Target="/ppt/slides/slide5.xml" Id="Rbc2f11e2433e411e" /><Relationship Type="http://schemas.openxmlformats.org/officeDocument/2006/relationships/slide" Target="/ppt/slides/slide6.xml" Id="R20d37f28f5c94a31" /><Relationship Type="http://schemas.openxmlformats.org/officeDocument/2006/relationships/slide" Target="/ppt/slides/slide7.xml" Id="Rc2313c7c2afb43f5" /><Relationship Type="http://schemas.openxmlformats.org/officeDocument/2006/relationships/slide" Target="/ppt/slides/slide8.xml" Id="R11973d4896c64f1b" /><Relationship Type="http://schemas.openxmlformats.org/officeDocument/2006/relationships/slide" Target="/ppt/slides/slide9.xml" Id="R5eb08412b5aa4bbf" /><Relationship Type="http://schemas.openxmlformats.org/officeDocument/2006/relationships/slide" Target="/ppt/slides/slide10.xml" Id="R7b2bf0a022a64f7a" /><Relationship Type="http://schemas.openxmlformats.org/officeDocument/2006/relationships/slide" Target="/ppt/slides/slide11.xml" Id="Rd6a73d23e22347d6" /><Relationship Type="http://schemas.openxmlformats.org/officeDocument/2006/relationships/slide" Target="/ppt/slides/slide12.xml" Id="Rfd8a4c177930453f" /><Relationship Type="http://schemas.openxmlformats.org/officeDocument/2006/relationships/slide" Target="/ppt/slides/slide13.xml" Id="Rc682eb8bc6ae4c79" /><Relationship Type="http://schemas.openxmlformats.org/officeDocument/2006/relationships/slide" Target="/ppt/slides/slide14.xml" Id="Re6eab8186a8347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72abc4911744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ae2b78100340d4" /><Relationship Type="http://schemas.openxmlformats.org/officeDocument/2006/relationships/notesMaster" Target="/ppt/notesMasters/notesMaster1.xml" Id="Ra4304ee71e0b42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b74fd30728434b" /><Relationship Type="http://schemas.openxmlformats.org/officeDocument/2006/relationships/notesMaster" Target="/ppt/notesMasters/notesMaster1.xml" Id="Rf1835664a5e543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c80f43a9c54a08" /><Relationship Type="http://schemas.openxmlformats.org/officeDocument/2006/relationships/notesMaster" Target="/ppt/notesMasters/notesMaster1.xml" Id="Rde0348dba855402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ba5d6e20934ce6" /><Relationship Type="http://schemas.openxmlformats.org/officeDocument/2006/relationships/notesMaster" Target="/ppt/notesMasters/notesMaster1.xml" Id="Ra82be01b7bdf44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03670718144d15" /><Relationship Type="http://schemas.openxmlformats.org/officeDocument/2006/relationships/notesMaster" Target="/ppt/notesMasters/notesMaster1.xml" Id="R0c44c3c8244f4b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6d54a84eb44e78" /><Relationship Type="http://schemas.openxmlformats.org/officeDocument/2006/relationships/notesMaster" Target="/ppt/notesMasters/notesMaster1.xml" Id="R206879bdcb2947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d48fb018e84644" /><Relationship Type="http://schemas.openxmlformats.org/officeDocument/2006/relationships/notesMaster" Target="/ppt/notesMasters/notesMaster1.xml" Id="R59c3ed0b4ebd46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f2e40bc7cc4745" /><Relationship Type="http://schemas.openxmlformats.org/officeDocument/2006/relationships/notesMaster" Target="/ppt/notesMasters/notesMaster1.xml" Id="Rdb9f94423aca4b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3be2e502d5400c" /><Relationship Type="http://schemas.openxmlformats.org/officeDocument/2006/relationships/notesMaster" Target="/ppt/notesMasters/notesMaster1.xml" Id="R2581d7bd2bbc41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21a99e7d7448c8" /><Relationship Type="http://schemas.openxmlformats.org/officeDocument/2006/relationships/notesMaster" Target="/ppt/notesMasters/notesMaster1.xml" Id="R9d5f6340770c4db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5b48bd0f19f40db" /><Relationship Type="http://schemas.openxmlformats.org/officeDocument/2006/relationships/notesMaster" Target="/ppt/notesMasters/notesMaster1.xml" Id="R95b0a16e31634e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b5c09a15cd4aae" /><Relationship Type="http://schemas.openxmlformats.org/officeDocument/2006/relationships/notesMaster" Target="/ppt/notesMasters/notesMaster1.xml" Id="R4aa867bede1d449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ab4dd9a29a049c8" /><Relationship Type="http://schemas.openxmlformats.org/officeDocument/2006/relationships/notesMaster" Target="/ppt/notesMasters/notesMaster1.xml" Id="R7fb82e8ce79644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c9116439224824" /><Relationship Type="http://schemas.openxmlformats.org/officeDocument/2006/relationships/notesMaster" Target="/ppt/notesMasters/notesMaster1.xml" Id="R5e1193d9035d47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(15 seconds): We are presenting PulsePrep, a browser-based mock-interview prototype. It helps students practice a chosen role and review structured feedback. Be explicit: the current evaluator is an illustrative heuristic, not live Gemini or a validated hiring assessment. Introduce Sriswathvik KOUDAGANI, Abhishek, Koushik and Siddharth.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hypothesis, not research findings: mentor-led practice can be hard to arrange; an overall score alone is not actionable; students need feedback tied to their own answers. We have not completed user research or verified a placement-gap statistic. Do not claim measured placement impact.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parts: role-based questions, a transparent five-dimension rubric, and an actionable report. Six to eight curated technical/behavioral questions vary by level. Example answers are curated, not generated by live AI. Skill Tank and colleges are proposed use cases, not confirmed customers or partnerships.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sign in with an email/password demo account. Then select a role, level and mode; answer questions; finish and review feedback; export a PDF. Better Auth handles sessions and Convex stores account-scoped practice data. The hosted version needs internet access. Use demo-only details and avoid sensitive answers.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 roles and two modes are implemented. Practice Mode reveals feedback after submission; Full Mock hides it until the session is finished. Levels include fresher and experienced. Optional personalization: public GitHub project metadata, manually supplied LinkedIn skills/experience, and self-reported coding topics. LinkedIn and LeetCode are not connected accounts; no solved-history scraping.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bars are an illustrative example, not a measured user result. Current scoring uses structure/keyword signals and cannot establish factual correctness. STAR is not scored for technical questions. Readiness thresholds are 7.5+ Interview ready, 5.0–7.4 Good, below 5.0 Needs improvement. These are preparation labels, not placement guarantees.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screenshot of the deployed app, using prepared sample answers. The overall score is 6.4/10, Good. Do not describe it as a real student result. Click Download PDF in the actual demo. Reports and session history are account-scoped; users can delete their history. Curated example answers are reference material, not AI-generated factual verification.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 plan (90 seconds): open https://pulseprep-blackster9263.spry-haven-6235.chatgpt.site; sign in to your prepared demo account; select Software Engineer / Fresher / Practice to show one submission and its feedback. For the short presentation, use View sample report rather than pretending 2–3 answers complete a six-question session. Explain that sample answers and scores are illustrative. Download PDF, toggle theme and refresh. The theme persists in the same browser. If internet is unavailable, show these screenshots and a previously downloaded PDF; cloud login/database are not offline. Source: https://github.com/Blackster9263/level-1.</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stack actually deployed, not the original aspirational plan. Frontend React/Vinext runs on Cloudflare Workers via Sites; it is not hosted on Netlify. Better Auth is integrated with Convex, with server-side identity/ownership checks. Convex Canada Central stores sessions/answers and reference previews. PDF generation uses jsPDF. No live LLM provider is configured. Cloudflare R2, PostHog, social OAuth, email verification, password recovery, voice/video and billing are not included.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flow: authenticated submission, server ownership/input/duplicate checks, deterministic heuristic evaluation, applicable-dimension averaging, atomic Convex persistence, mode-aware feedback and final report. Skipped questions are excluded; unanswered questions count as zero in the overall report. There is no AI JSON response, prompt-version storage or model retry/cache pipeline in this release.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Ready-to-say answer: "We did not have a Gemini API key, so we could not authenticate or validate live AI scoring. We shipped a clearly labeled heuristic prototype; the next step is a server-side integration using a supported Gemini model and tested structured feedback." This is an unfinished integration, not a fundamental technical impossibility. Do not blame billing, quota, an outage or a failed API request: none was verified. Separately, Google's current deprecation table lists June 1, 2026 as the shutdown date for gemini-2.0-flash and gemini-2.0-flash-001; Google notes dates can be earliest possible retirement dates. Use a currently supported model rather than targeting 2.0. Credentials must remain server-side. The fallback avoids a model dependency, not the internet dependency of Better Auth/Convex. Sources, checked 2026-10-11: https://ai.google.dev/gemini-api/docs/api-key and https://ai.google.dev/gemini-api/docs/deprecations.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heuristic is deliberately disclosed and is not equivalent to LLM reasoning. It can reward form/keywords without proving correctness. Before enabling live AI: obtain a provider key, select a supported model, store the secret only on the server, validate structured scores/feedback, enforce rate limits and timeouts, and test answer quality and prompt-injection handling. This slide describes future work, not completed features. Existing code computes averages and excludes STAR for technical answers.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segments and validation plans. We do not claim a Skill Tank partnership, paying customers, market-size statistic, improved placement rate or measured learning outcome. Propose a small pilot to measure session completion, repeat practice, and usefulness of feedback. Validate the heuristic and future AI feedback with human reviewers before any high-stakes use.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live prototype includes dark/light theme persistence, email/password accounts, account-scoped history, role/mode practice, illustrative scoring and PDF reports. Public GitHub metadata import is implemented; LinkedIn skills and coding topics are manual references, not OAuth connectors or scraped LeetCode solved histories. Live AI is future work. Website: https://pulseprep-blackster9263.spry-haven-6235.chatgpt.site. Repository: https://github.com/Blackster9263/level-1 (downloadable source ZIP plus README and submission guide). QA this release: 19 automated tests passed, typecheck and production build passed; live sign-in, sample report and theme refresh persistence were checked. Thank the judges and invite questions.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97c4b7bfd44984"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c97dbe18504f77" /><Relationship Type="http://schemas.openxmlformats.org/officeDocument/2006/relationships/slideLayout" Target="/ppt/slideLayouts/slideLayout1.xml" Id="R3b137f0df7d64e7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137f0df7d64e7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deee9a3ffd4098" /><Relationship Type="http://schemas.openxmlformats.org/officeDocument/2006/relationships/notesSlide" Target="/ppt/notesSlides/notesSlide1.xml" Id="R7dae18aa10314a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b52faef7a84b47" /><Relationship Type="http://schemas.openxmlformats.org/officeDocument/2006/relationships/notesSlide" Target="/ppt/notesSlides/notesSlide2.xml" Id="R7d543b5cd8f046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b4fda0db2e4511" /><Relationship Type="http://schemas.openxmlformats.org/officeDocument/2006/relationships/notesSlide" Target="/ppt/notesSlides/notesSlide3.xml" Id="R99465311262a47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0ff1ec204f4368" /><Relationship Type="http://schemas.openxmlformats.org/officeDocument/2006/relationships/notesSlide" Target="/ppt/notesSlides/notesSlide4.xml" Id="Raaf49aa519fe47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494757815c24e19" /><Relationship Type="http://schemas.openxmlformats.org/officeDocument/2006/relationships/notesSlide" Target="/ppt/notesSlides/notesSlide5.xml" Id="Rc9ac69e70759432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0ba93e4d9a94761" /><Relationship Type="http://schemas.openxmlformats.org/officeDocument/2006/relationships/notesSlide" Target="/ppt/notesSlides/notesSlide6.xml" Id="R28c78c3f1ce24b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19af1c0c1d40c8" /><Relationship Type="http://schemas.openxmlformats.org/officeDocument/2006/relationships/image" Target="/ppt/media/image.jpeg" Id="R3a78444e431c46f3" /><Relationship Type="http://schemas.openxmlformats.org/officeDocument/2006/relationships/notesSlide" Target="/ppt/notesSlides/notesSlide7.xml" Id="R07deff0025f743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8dbb9930fd14ab9" /><Relationship Type="http://schemas.openxmlformats.org/officeDocument/2006/relationships/image" Target="/ppt/media/image2.jpeg" Id="R3c069032339243aa" /><Relationship Type="http://schemas.openxmlformats.org/officeDocument/2006/relationships/notesSlide" Target="/ppt/notesSlides/notesSlide8.xml" Id="R43e9c6c845b447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8a76376eb554af2" /><Relationship Type="http://schemas.openxmlformats.org/officeDocument/2006/relationships/notesSlide" Target="/ppt/notesSlides/notesSlide9.xml" Id="Rfe2ca406de06424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7004267b6ad42ca" /><Relationship Type="http://schemas.openxmlformats.org/officeDocument/2006/relationships/notesSlide" Target="/ppt/notesSlides/notesSlide10.xml" Id="R6661f3efb45e44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85b9349e46243e0" /><Relationship Type="http://schemas.openxmlformats.org/officeDocument/2006/relationships/notesSlide" Target="/ppt/notesSlides/notesSlide11.xml" Id="Rd3a4412b4dba43f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4fa702ee1514a5f" /><Relationship Type="http://schemas.openxmlformats.org/officeDocument/2006/relationships/notesSlide" Target="/ppt/notesSlides/notesSlide12.xml" Id="R5d4977a36fb0465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cb3304e71c94774" /><Relationship Type="http://schemas.openxmlformats.org/officeDocument/2006/relationships/notesSlide" Target="/ppt/notesSlides/notesSlide13.xml" Id="Rf097e1d2576143f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7ca1ff51bab4a81" /><Relationship Type="http://schemas.openxmlformats.org/officeDocument/2006/relationships/hyperlink" Target="https://pulseprep-blackster9263.spry-haven-6235.chatgpt.site" TargetMode="External" Id="Rcf970ee796444e50" /><Relationship Type="http://schemas.openxmlformats.org/officeDocument/2006/relationships/hyperlink" Target="https://github.com/Blackster9263/level-1" TargetMode="External" Id="R004c535264724b16" /><Relationship Type="http://schemas.openxmlformats.org/officeDocument/2006/relationships/notesSlide" Target="/ppt/notesSlides/notesSlide14.xml" Id="R4bd78d1d3774449f" /></Relationships>
</file>

<file path=ppt/slides/slide1.xml><?xml version="1.0" encoding="utf-8"?>
<p:sld xmlns:p="http://schemas.openxmlformats.org/presentationml/2006/main">
  <p:cSld>
    <p:bg>
      <p:bgPr>
        <a:solidFill xmlns:a="http://schemas.openxmlformats.org/drawingml/2006/main">
          <a:srgbClr val="3730A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B255BCC-DDB0-4BBA-9ACC-38E881C77892}"/>
              </a:ext>
            </a:extLst>
          </p:cNvPr>
          <p:cNvSpPr>
            <a:spLocks xmlns:a="http://schemas.openxmlformats.org/drawingml/2006/main" noGrp="1"/>
          </p:cNvSpPr>
          <p:nvPr/>
        </p:nvSpPr>
        <p:spPr>
          <a:xfrm xmlns:a="http://schemas.openxmlformats.org/drawingml/2006/main">
            <a:off x="640080" y="1280160"/>
            <a:ext cx="78638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200" b="1">
                <a:solidFill>
                  <a:srgbClr val="FFFFFF"/>
                </a:solidFill>
                <a:latin typeface="Calibri"/>
                <a:ea typeface="Calibri"/>
                <a:cs typeface="Calibri"/>
              </a:rPr>
              <a:t>PulsePrep</a:t>
            </a:r>
            <a:endParaRPr sz="4200"/>
          </a:p>
        </p:txBody>
      </p:sp>
      <p:sp>
        <p:nvSpPr>
          <p:cNvPr id="3" name="Text 1">
            <a:extLst xmlns:a="http://schemas.openxmlformats.org/drawingml/2006/main">
              <a:ext uri="{FF2B5EF4-FFF2-40B4-BE49-F238E27FC236}">
                <a16:creationId xmlns:a16="http://schemas.microsoft.com/office/drawing/2014/main" id="{84011E8A-6A6F-45DF-A23D-9BA5CE4C4765}"/>
              </a:ext>
            </a:extLst>
          </p:cNvPr>
          <p:cNvSpPr>
            <a:spLocks xmlns:a="http://schemas.openxmlformats.org/drawingml/2006/main" noGrp="1"/>
          </p:cNvSpPr>
          <p:nvPr/>
        </p:nvSpPr>
        <p:spPr>
          <a:xfrm xmlns:a="http://schemas.openxmlformats.org/drawingml/2006/main">
            <a:off x="640080" y="2286000"/>
            <a:ext cx="74980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a:solidFill>
                  <a:srgbClr val="E0E7FF"/>
                </a:solidFill>
                <a:latin typeface="Calibri"/>
                <a:ea typeface="Calibri"/>
                <a:cs typeface="Calibri"/>
              </a:rPr>
              <a:t>AI Mock Interview Coach — hackathon prototype</a:t>
            </a:r>
            <a:endParaRPr sz="2000"/>
          </a:p>
          <a:p xmlns:a="http://schemas.openxmlformats.org/drawingml/2006/main">
            <a:pPr marL="0" indent="0">
              <a:buNone/>
            </a:pPr>
            <a:r>
              <a:rPr sz="2000">
                <a:solidFill>
                  <a:srgbClr val="E0E7FF"/>
                </a:solidFill>
                <a:latin typeface="Calibri"/>
                <a:ea typeface="Calibri"/>
                <a:cs typeface="Calibri"/>
              </a:rPr>
              <a:t>Role-based practice, clear feedback, and PDF reports.</a:t>
            </a:r>
          </a:p>
        </p:txBody>
      </p:sp>
      <p:sp>
        <p:nvSpPr>
          <p:cNvPr id="4" name="Text 2">
            <a:extLst xmlns:a="http://schemas.openxmlformats.org/drawingml/2006/main">
              <a:ext uri="{FF2B5EF4-FFF2-40B4-BE49-F238E27FC236}">
                <a16:creationId xmlns:a16="http://schemas.microsoft.com/office/drawing/2014/main" id="{F653F0E7-52BB-4AFD-B234-62AEC2B0891D}"/>
              </a:ext>
            </a:extLst>
          </p:cNvPr>
          <p:cNvSpPr>
            <a:spLocks xmlns:a="http://schemas.openxmlformats.org/drawingml/2006/main" noGrp="1"/>
          </p:cNvSpPr>
          <p:nvPr/>
        </p:nvSpPr>
        <p:spPr>
          <a:xfrm xmlns:a="http://schemas.openxmlformats.org/drawingml/2006/main">
            <a:off x="640080" y="3840480"/>
            <a:ext cx="78638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C7D2FE"/>
                </a:solidFill>
                <a:latin typeface="Calibri"/>
                <a:ea typeface="Calibri"/>
                <a:cs typeface="Calibri"/>
              </a:rPr>
              <a:t>Track: Skill Tank (EdTech)  |  Centle Tri-City AI Hackathon 2026</a:t>
            </a:r>
            <a:endParaRPr sz="1400"/>
          </a:p>
          <a:p xmlns:a="http://schemas.openxmlformats.org/drawingml/2006/main">
            <a:pPr marL="0" indent="0">
              <a:buNone/>
            </a:pPr>
            <a:r>
              <a:rPr sz="1400">
                <a:solidFill>
                  <a:srgbClr val="C7D2FE"/>
                </a:solidFill>
                <a:latin typeface="Calibri"/>
                <a:ea typeface="Calibri"/>
                <a:cs typeface="Calibri"/>
              </a:rPr>
              <a:t>Team: Sriswathvik KOUDAGANI, Abhishek, Koushik, Siddharth</a:t>
            </a:r>
            <a:endParaRPr sz="1400"/>
          </a:p>
        </p:txBody>
      </p:sp>
    </p:spTree>
    <p:extLst>
      <p:ext uri="{BB962C8B-B14F-4D97-AF65-F5344CB8AC3E}">
        <p14:creationId xmlns:p14="http://schemas.microsoft.com/office/powerpoint/2010/main" val="11624889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A09EC12-F02D-49BE-B132-7B540C123392}"/>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A895CD6B-B819-40FD-BFBF-8B269858B321}"/>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THE PROBLEM</a:t>
            </a:r>
            <a:endParaRPr sz="1200"/>
          </a:p>
        </p:txBody>
      </p:sp>
      <p:sp>
        <p:nvSpPr>
          <p:cNvPr id="4" name="Text 2">
            <a:extLst xmlns:a="http://schemas.openxmlformats.org/drawingml/2006/main">
              <a:ext uri="{FF2B5EF4-FFF2-40B4-BE49-F238E27FC236}">
                <a16:creationId xmlns:a16="http://schemas.microsoft.com/office/drawing/2014/main" id="{9B6394A0-FB25-4B20-9605-904CC52ECEE1}"/>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Students know the material, not how they come across.</a:t>
            </a:r>
            <a:endParaRPr sz="2800"/>
          </a:p>
        </p:txBody>
      </p:sp>
      <p:sp>
        <p:nvSpPr>
          <p:cNvPr id="5" name="Text 3">
            <a:extLst xmlns:a="http://schemas.openxmlformats.org/drawingml/2006/main">
              <a:ext uri="{FF2B5EF4-FFF2-40B4-BE49-F238E27FC236}">
                <a16:creationId xmlns:a16="http://schemas.microsoft.com/office/drawing/2014/main" id="{DB6FF989-1375-4E01-A77A-C0A0AC610BAA}"/>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2</a:t>
            </a:r>
            <a:endParaRPr sz="1000"/>
          </a:p>
        </p:txBody>
      </p:sp>
      <p:sp>
        <p:nvSpPr>
          <p:cNvPr id="7" name="Shape 4">
            <a:extLst xmlns:a="http://schemas.openxmlformats.org/drawingml/2006/main">
              <a:ext uri="{FF2B5EF4-FFF2-40B4-BE49-F238E27FC236}">
                <a16:creationId xmlns:a16="http://schemas.microsoft.com/office/drawing/2014/main" id="{4DAF61D8-CED1-4AD1-944F-3B50E6E92A8E}"/>
              </a:ext>
            </a:extLst>
          </p:cNvPr>
          <p:cNvSpPr>
            <a:spLocks xmlns:a="http://schemas.openxmlformats.org/drawingml/2006/main" noGrp="1"/>
          </p:cNvSpPr>
          <p:nvPr/>
        </p:nvSpPr>
        <p:spPr>
          <a:xfrm xmlns:a="http://schemas.openxmlformats.org/drawingml/2006/main">
            <a:off x="457200" y="1554480"/>
            <a:ext cx="2606040" cy="2651760"/>
          </a:xfrm>
          <a:prstGeom xmlns:a="http://schemas.openxmlformats.org/drawingml/2006/main" prst="roundRect">
            <a:avLst>
              <a:gd name="adj" fmla="val 2807"/>
            </a:avLst>
          </a:prstGeom>
          <a:solidFill xmlns:a="http://schemas.openxmlformats.org/drawingml/2006/main">
            <a:srgbClr val="F8FAFC"/>
          </a:solidFill>
          <a:ln xmlns:a="http://schemas.openxmlformats.org/drawingml/2006/main" w="12700">
            <a:solidFill>
              <a:srgbClr val="CBD5E1"/>
            </a:solidFill>
            <a:prstDash val="solid"/>
          </a:ln>
        </p:spPr>
      </p:sp>
      <p:sp>
        <p:nvSpPr>
          <p:cNvPr id="8" name="Shape 5">
            <a:extLst xmlns:a="http://schemas.openxmlformats.org/drawingml/2006/main">
              <a:ext uri="{FF2B5EF4-FFF2-40B4-BE49-F238E27FC236}">
                <a16:creationId xmlns:a16="http://schemas.microsoft.com/office/drawing/2014/main" id="{F7969930-72F3-46AB-8350-20505F61F754}"/>
              </a:ext>
            </a:extLst>
          </p:cNvPr>
          <p:cNvSpPr>
            <a:spLocks xmlns:a="http://schemas.openxmlformats.org/drawingml/2006/main" noGrp="1"/>
          </p:cNvSpPr>
          <p:nvPr/>
        </p:nvSpPr>
        <p:spPr>
          <a:xfrm xmlns:a="http://schemas.openxmlformats.org/drawingml/2006/main">
            <a:off x="457200" y="1554480"/>
            <a:ext cx="2606040" cy="73152"/>
          </a:xfrm>
          <a:prstGeom xmlns:a="http://schemas.openxmlformats.org/drawingml/2006/main" prst="rect">
            <a:avLst>
              <a:gd name="adj" fmla="val 100000"/>
            </a:avLst>
          </a:prstGeom>
          <a:solidFill xmlns:a="http://schemas.openxmlformats.org/drawingml/2006/main">
            <a:srgbClr val="3730A3"/>
          </a:solidFill>
        </p:spPr>
      </p:sp>
      <p:sp>
        <p:nvSpPr>
          <p:cNvPr id="9" name="Text 6">
            <a:extLst xmlns:a="http://schemas.openxmlformats.org/drawingml/2006/main">
              <a:ext uri="{FF2B5EF4-FFF2-40B4-BE49-F238E27FC236}">
                <a16:creationId xmlns:a16="http://schemas.microsoft.com/office/drawing/2014/main" id="{E8E4E84A-FA0C-494D-BC37-A38C442C3DC5}"/>
              </a:ext>
            </a:extLst>
          </p:cNvPr>
          <p:cNvSpPr>
            <a:spLocks xmlns:a="http://schemas.openxmlformats.org/drawingml/2006/main" noGrp="1"/>
          </p:cNvSpPr>
          <p:nvPr/>
        </p:nvSpPr>
        <p:spPr>
          <a:xfrm xmlns:a="http://schemas.openxmlformats.org/drawingml/2006/main">
            <a:off x="640080" y="1828800"/>
            <a:ext cx="22402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3730A3"/>
                </a:solidFill>
                <a:latin typeface="Calibri"/>
                <a:ea typeface="Calibri"/>
                <a:cs typeface="Calibri"/>
              </a:rPr>
              <a:t>Mock interviews are scarce</a:t>
            </a:r>
            <a:endParaRPr sz="1800"/>
          </a:p>
        </p:txBody>
      </p:sp>
      <p:sp>
        <p:nvSpPr>
          <p:cNvPr id="10" name="Text 7">
            <a:extLst xmlns:a="http://schemas.openxmlformats.org/drawingml/2006/main">
              <a:ext uri="{FF2B5EF4-FFF2-40B4-BE49-F238E27FC236}">
                <a16:creationId xmlns:a16="http://schemas.microsoft.com/office/drawing/2014/main" id="{65412556-B95D-4AEE-A73B-8E45FA455594}"/>
              </a:ext>
            </a:extLst>
          </p:cNvPr>
          <p:cNvSpPr>
            <a:spLocks xmlns:a="http://schemas.openxmlformats.org/drawingml/2006/main" noGrp="1"/>
          </p:cNvSpPr>
          <p:nvPr/>
        </p:nvSpPr>
        <p:spPr>
          <a:xfrm xmlns:a="http://schemas.openxmlformats.org/drawingml/2006/main">
            <a:off x="640080" y="2743200"/>
            <a:ext cx="22402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475569"/>
                </a:solidFill>
                <a:latin typeface="Calibri"/>
                <a:ea typeface="Calibri"/>
                <a:cs typeface="Calibri"/>
              </a:rPr>
              <a:t>Real practice with a mentor or peer is hard to schedule and expensive to scale.</a:t>
            </a:r>
            <a:endParaRPr sz="1400"/>
          </a:p>
        </p:txBody>
      </p:sp>
      <p:sp>
        <p:nvSpPr>
          <p:cNvPr id="11" name="Shape 8">
            <a:extLst xmlns:a="http://schemas.openxmlformats.org/drawingml/2006/main">
              <a:ext uri="{FF2B5EF4-FFF2-40B4-BE49-F238E27FC236}">
                <a16:creationId xmlns:a16="http://schemas.microsoft.com/office/drawing/2014/main" id="{DDA3BBA0-9F3A-4FE8-9A91-458389B80BF6}"/>
              </a:ext>
            </a:extLst>
          </p:cNvPr>
          <p:cNvSpPr>
            <a:spLocks xmlns:a="http://schemas.openxmlformats.org/drawingml/2006/main" noGrp="1"/>
          </p:cNvSpPr>
          <p:nvPr/>
        </p:nvSpPr>
        <p:spPr>
          <a:xfrm xmlns:a="http://schemas.openxmlformats.org/drawingml/2006/main">
            <a:off x="3291840" y="1554480"/>
            <a:ext cx="2606040" cy="2651760"/>
          </a:xfrm>
          <a:prstGeom xmlns:a="http://schemas.openxmlformats.org/drawingml/2006/main" prst="roundRect">
            <a:avLst>
              <a:gd name="adj" fmla="val 2807"/>
            </a:avLst>
          </a:prstGeom>
          <a:solidFill xmlns:a="http://schemas.openxmlformats.org/drawingml/2006/main">
            <a:srgbClr val="F8FAFC"/>
          </a:solidFill>
          <a:ln xmlns:a="http://schemas.openxmlformats.org/drawingml/2006/main" w="12700">
            <a:solidFill>
              <a:srgbClr val="CBD5E1"/>
            </a:solidFill>
            <a:prstDash val="solid"/>
          </a:ln>
        </p:spPr>
      </p:sp>
      <p:sp>
        <p:nvSpPr>
          <p:cNvPr id="12" name="Shape 9">
            <a:extLst xmlns:a="http://schemas.openxmlformats.org/drawingml/2006/main">
              <a:ext uri="{FF2B5EF4-FFF2-40B4-BE49-F238E27FC236}">
                <a16:creationId xmlns:a16="http://schemas.microsoft.com/office/drawing/2014/main" id="{55E8E6D8-E47F-440A-9141-1C559A9F2EDE}"/>
              </a:ext>
            </a:extLst>
          </p:cNvPr>
          <p:cNvSpPr>
            <a:spLocks xmlns:a="http://schemas.openxmlformats.org/drawingml/2006/main" noGrp="1"/>
          </p:cNvSpPr>
          <p:nvPr/>
        </p:nvSpPr>
        <p:spPr>
          <a:xfrm xmlns:a="http://schemas.openxmlformats.org/drawingml/2006/main">
            <a:off x="3291840" y="1554480"/>
            <a:ext cx="2606040" cy="73152"/>
          </a:xfrm>
          <a:prstGeom xmlns:a="http://schemas.openxmlformats.org/drawingml/2006/main" prst="rect">
            <a:avLst>
              <a:gd name="adj" fmla="val 100000"/>
            </a:avLst>
          </a:prstGeom>
          <a:solidFill xmlns:a="http://schemas.openxmlformats.org/drawingml/2006/main">
            <a:srgbClr val="3730A3"/>
          </a:solidFill>
        </p:spPr>
      </p:sp>
      <p:sp>
        <p:nvSpPr>
          <p:cNvPr id="13" name="Text 10">
            <a:extLst xmlns:a="http://schemas.openxmlformats.org/drawingml/2006/main">
              <a:ext uri="{FF2B5EF4-FFF2-40B4-BE49-F238E27FC236}">
                <a16:creationId xmlns:a16="http://schemas.microsoft.com/office/drawing/2014/main" id="{B65265C7-9BA2-4E9A-9FFB-B9BBBE69551D}"/>
              </a:ext>
            </a:extLst>
          </p:cNvPr>
          <p:cNvSpPr>
            <a:spLocks xmlns:a="http://schemas.openxmlformats.org/drawingml/2006/main" noGrp="1"/>
          </p:cNvSpPr>
          <p:nvPr/>
        </p:nvSpPr>
        <p:spPr>
          <a:xfrm xmlns:a="http://schemas.openxmlformats.org/drawingml/2006/main">
            <a:off x="3474720" y="1828800"/>
            <a:ext cx="22402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3730A3"/>
                </a:solidFill>
                <a:latin typeface="Calibri"/>
                <a:ea typeface="Calibri"/>
                <a:cs typeface="Calibri"/>
              </a:rPr>
              <a:t>One score hides the next step</a:t>
            </a:r>
            <a:endParaRPr sz="1800"/>
          </a:p>
        </p:txBody>
      </p:sp>
      <p:sp>
        <p:nvSpPr>
          <p:cNvPr id="14" name="Text 11">
            <a:extLst xmlns:a="http://schemas.openxmlformats.org/drawingml/2006/main">
              <a:ext uri="{FF2B5EF4-FFF2-40B4-BE49-F238E27FC236}">
                <a16:creationId xmlns:a16="http://schemas.microsoft.com/office/drawing/2014/main" id="{3AAA2809-53E9-4FFE-B9C4-9C6A659FF002}"/>
              </a:ext>
            </a:extLst>
          </p:cNvPr>
          <p:cNvSpPr>
            <a:spLocks xmlns:a="http://schemas.openxmlformats.org/drawingml/2006/main" noGrp="1"/>
          </p:cNvSpPr>
          <p:nvPr/>
        </p:nvSpPr>
        <p:spPr>
          <a:xfrm xmlns:a="http://schemas.openxmlformats.org/drawingml/2006/main">
            <a:off x="3474720" y="2743200"/>
            <a:ext cx="22402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475569"/>
                </a:solidFill>
                <a:latin typeface="Calibri"/>
                <a:ea typeface="Calibri"/>
                <a:cs typeface="Calibri"/>
              </a:rPr>
              <a:t>A single number doesn't tell a student what to fix or why.</a:t>
            </a:r>
            <a:endParaRPr sz="1400"/>
          </a:p>
        </p:txBody>
      </p:sp>
      <p:sp>
        <p:nvSpPr>
          <p:cNvPr id="15" name="Shape 12">
            <a:extLst xmlns:a="http://schemas.openxmlformats.org/drawingml/2006/main">
              <a:ext uri="{FF2B5EF4-FFF2-40B4-BE49-F238E27FC236}">
                <a16:creationId xmlns:a16="http://schemas.microsoft.com/office/drawing/2014/main" id="{913DF38B-5C2C-47C2-92A0-CBEC5D38B435}"/>
              </a:ext>
            </a:extLst>
          </p:cNvPr>
          <p:cNvSpPr>
            <a:spLocks xmlns:a="http://schemas.openxmlformats.org/drawingml/2006/main" noGrp="1"/>
          </p:cNvSpPr>
          <p:nvPr/>
        </p:nvSpPr>
        <p:spPr>
          <a:xfrm xmlns:a="http://schemas.openxmlformats.org/drawingml/2006/main">
            <a:off x="6126480" y="1554480"/>
            <a:ext cx="2606040" cy="2651760"/>
          </a:xfrm>
          <a:prstGeom xmlns:a="http://schemas.openxmlformats.org/drawingml/2006/main" prst="roundRect">
            <a:avLst>
              <a:gd name="adj" fmla="val 2807"/>
            </a:avLst>
          </a:prstGeom>
          <a:solidFill xmlns:a="http://schemas.openxmlformats.org/drawingml/2006/main">
            <a:srgbClr val="F8FAFC"/>
          </a:solidFill>
          <a:ln xmlns:a="http://schemas.openxmlformats.org/drawingml/2006/main" w="12700">
            <a:solidFill>
              <a:srgbClr val="CBD5E1"/>
            </a:solidFill>
            <a:prstDash val="solid"/>
          </a:ln>
        </p:spPr>
      </p:sp>
      <p:sp>
        <p:nvSpPr>
          <p:cNvPr id="16" name="Shape 13">
            <a:extLst xmlns:a="http://schemas.openxmlformats.org/drawingml/2006/main">
              <a:ext uri="{FF2B5EF4-FFF2-40B4-BE49-F238E27FC236}">
                <a16:creationId xmlns:a16="http://schemas.microsoft.com/office/drawing/2014/main" id="{DEB6C67F-D503-43FB-A4F1-CB8F4E2A471C}"/>
              </a:ext>
            </a:extLst>
          </p:cNvPr>
          <p:cNvSpPr>
            <a:spLocks xmlns:a="http://schemas.openxmlformats.org/drawingml/2006/main" noGrp="1"/>
          </p:cNvSpPr>
          <p:nvPr/>
        </p:nvSpPr>
        <p:spPr>
          <a:xfrm xmlns:a="http://schemas.openxmlformats.org/drawingml/2006/main">
            <a:off x="6126480" y="1554480"/>
            <a:ext cx="2606040" cy="73152"/>
          </a:xfrm>
          <a:prstGeom xmlns:a="http://schemas.openxmlformats.org/drawingml/2006/main" prst="rect">
            <a:avLst>
              <a:gd name="adj" fmla="val 100000"/>
            </a:avLst>
          </a:prstGeom>
          <a:solidFill xmlns:a="http://schemas.openxmlformats.org/drawingml/2006/main">
            <a:srgbClr val="3730A3"/>
          </a:solidFill>
        </p:spPr>
      </p:sp>
      <p:sp>
        <p:nvSpPr>
          <p:cNvPr id="17" name="Text 14">
            <a:extLst xmlns:a="http://schemas.openxmlformats.org/drawingml/2006/main">
              <a:ext uri="{FF2B5EF4-FFF2-40B4-BE49-F238E27FC236}">
                <a16:creationId xmlns:a16="http://schemas.microsoft.com/office/drawing/2014/main" id="{5F3CDF5A-6E7B-45CA-9C8D-7F89261D4A4F}"/>
              </a:ext>
            </a:extLst>
          </p:cNvPr>
          <p:cNvSpPr>
            <a:spLocks xmlns:a="http://schemas.openxmlformats.org/drawingml/2006/main" noGrp="1"/>
          </p:cNvSpPr>
          <p:nvPr/>
        </p:nvSpPr>
        <p:spPr>
          <a:xfrm xmlns:a="http://schemas.openxmlformats.org/drawingml/2006/main">
            <a:off x="6309360" y="1828800"/>
            <a:ext cx="22402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3730A3"/>
                </a:solidFill>
                <a:latin typeface="Calibri"/>
                <a:ea typeface="Calibri"/>
                <a:cs typeface="Calibri"/>
              </a:rPr>
              <a:t>Feedback doesn't reach the answer</a:t>
            </a:r>
            <a:endParaRPr sz="1800"/>
          </a:p>
        </p:txBody>
      </p:sp>
      <p:sp>
        <p:nvSpPr>
          <p:cNvPr id="18" name="Text 15">
            <a:extLst xmlns:a="http://schemas.openxmlformats.org/drawingml/2006/main">
              <a:ext uri="{FF2B5EF4-FFF2-40B4-BE49-F238E27FC236}">
                <a16:creationId xmlns:a16="http://schemas.microsoft.com/office/drawing/2014/main" id="{5D326C9B-23A7-4B9E-80D8-BABCF3B1EF25}"/>
              </a:ext>
            </a:extLst>
          </p:cNvPr>
          <p:cNvSpPr>
            <a:spLocks xmlns:a="http://schemas.openxmlformats.org/drawingml/2006/main" noGrp="1"/>
          </p:cNvSpPr>
          <p:nvPr/>
        </p:nvSpPr>
        <p:spPr>
          <a:xfrm xmlns:a="http://schemas.openxmlformats.org/drawingml/2006/main">
            <a:off x="6309360" y="2743200"/>
            <a:ext cx="22402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475569"/>
                </a:solidFill>
                <a:latin typeface="Calibri"/>
                <a:ea typeface="Calibri"/>
                <a:cs typeface="Calibri"/>
              </a:rPr>
              <a:t>Students need feedback on what they actually said, not general advice.</a:t>
            </a:r>
            <a:endParaRPr sz="1400"/>
          </a:p>
        </p:txBody>
      </p:sp>
      <p:sp>
        <p:nvSpPr>
          <p:cNvPr id="19" name="Text 16">
            <a:extLst xmlns:a="http://schemas.openxmlformats.org/drawingml/2006/main">
              <a:ext uri="{FF2B5EF4-FFF2-40B4-BE49-F238E27FC236}">
                <a16:creationId xmlns:a16="http://schemas.microsoft.com/office/drawing/2014/main" id="{A880DAE5-4B4C-442A-8C5B-B1365355BEEB}"/>
              </a:ext>
            </a:extLst>
          </p:cNvPr>
          <p:cNvSpPr>
            <a:spLocks xmlns:a="http://schemas.openxmlformats.org/drawingml/2006/main" noGrp="1"/>
          </p:cNvSpPr>
          <p:nvPr/>
        </p:nvSpPr>
        <p:spPr>
          <a:xfrm xmlns:a="http://schemas.openxmlformats.org/drawingml/2006/main">
            <a:off x="457200" y="43891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i="0">
                <a:solidFill>
                  <a:srgbClr val="475569"/>
                </a:solidFill>
              </a:defRPr>
            </a:defPPr>
          </a:lstStyle>
          <a:p xmlns:a="http://schemas.openxmlformats.org/drawingml/2006/main">
            <a:pPr marL="0" indent="0">
              <a:buNone/>
              <a:defRPr i="0">
                <a:solidFill>
                  <a:srgbClr val="475569"/>
                </a:solidFill>
              </a:defRPr>
            </a:pPr>
            <a:r>
              <a:rPr sz="1100" i="0">
                <a:solidFill>
                  <a:srgbClr val="475569"/>
                </a:solidFill>
                <a:latin typeface="Calibri"/>
                <a:ea typeface="Calibri"/>
                <a:cs typeface="Calibri"/>
              </a:rPr>
              <a:t>Product hypothesis: repeatable practice is more useful when the next step is clear.</a:t>
            </a:r>
            <a:endParaRPr sz="1100"/>
          </a:p>
        </p:txBody>
      </p:sp>
    </p:spTree>
    <p:extLst>
      <p:ext uri="{BB962C8B-B14F-4D97-AF65-F5344CB8AC3E}">
        <p14:creationId xmlns:p14="http://schemas.microsoft.com/office/powerpoint/2010/main" val="17404547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53D420A-B96B-4CEF-A542-2250D89C520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F1FA474F-3ED6-4180-9F6B-38E11F211208}"/>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OUR SOLUTION</a:t>
            </a:r>
            <a:endParaRPr sz="1200"/>
          </a:p>
        </p:txBody>
      </p:sp>
      <p:sp>
        <p:nvSpPr>
          <p:cNvPr id="4" name="Text 2">
            <a:extLst xmlns:a="http://schemas.openxmlformats.org/drawingml/2006/main">
              <a:ext uri="{FF2B5EF4-FFF2-40B4-BE49-F238E27FC236}">
                <a16:creationId xmlns:a16="http://schemas.microsoft.com/office/drawing/2014/main" id="{6E164928-98D4-4B8B-B9EC-5536CC75A4AB}"/>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We close the gap with three things</a:t>
            </a:r>
            <a:endParaRPr sz="2800"/>
          </a:p>
        </p:txBody>
      </p:sp>
      <p:sp>
        <p:nvSpPr>
          <p:cNvPr id="5" name="Text 3">
            <a:extLst xmlns:a="http://schemas.openxmlformats.org/drawingml/2006/main">
              <a:ext uri="{FF2B5EF4-FFF2-40B4-BE49-F238E27FC236}">
                <a16:creationId xmlns:a16="http://schemas.microsoft.com/office/drawing/2014/main" id="{21CC055E-0885-4C09-B59E-8834C45AA0FD}"/>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3</a:t>
            </a:r>
            <a:endParaRPr sz="1000"/>
          </a:p>
        </p:txBody>
      </p:sp>
      <p:sp>
        <p:nvSpPr>
          <p:cNvPr id="7" name="Shape 4">
            <a:extLst xmlns:a="http://schemas.openxmlformats.org/drawingml/2006/main">
              <a:ext uri="{FF2B5EF4-FFF2-40B4-BE49-F238E27FC236}">
                <a16:creationId xmlns:a16="http://schemas.microsoft.com/office/drawing/2014/main" id="{962812C5-DEA8-4B73-B363-2A24207D36F3}"/>
              </a:ext>
            </a:extLst>
          </p:cNvPr>
          <p:cNvSpPr>
            <a:spLocks xmlns:a="http://schemas.openxmlformats.org/drawingml/2006/main" noGrp="1"/>
          </p:cNvSpPr>
          <p:nvPr/>
        </p:nvSpPr>
        <p:spPr>
          <a:xfrm xmlns:a="http://schemas.openxmlformats.org/drawingml/2006/main">
            <a:off x="457200" y="1645920"/>
            <a:ext cx="2606040" cy="2377440"/>
          </a:xfrm>
          <a:prstGeom xmlns:a="http://schemas.openxmlformats.org/drawingml/2006/main" prst="roundRect">
            <a:avLst>
              <a:gd name="adj" fmla="val 3077"/>
            </a:avLst>
          </a:prstGeom>
          <a:solidFill xmlns:a="http://schemas.openxmlformats.org/drawingml/2006/main">
            <a:srgbClr val="EEF2FF"/>
          </a:solidFill>
        </p:spPr>
      </p:sp>
      <p:sp>
        <p:nvSpPr>
          <p:cNvPr id="8" name="Text 5">
            <a:extLst xmlns:a="http://schemas.openxmlformats.org/drawingml/2006/main">
              <a:ext uri="{FF2B5EF4-FFF2-40B4-BE49-F238E27FC236}">
                <a16:creationId xmlns:a16="http://schemas.microsoft.com/office/drawing/2014/main" id="{71ACDAA1-B288-4E7A-8A70-57A4188039F6}"/>
              </a:ext>
            </a:extLst>
          </p:cNvPr>
          <p:cNvSpPr>
            <a:spLocks xmlns:a="http://schemas.openxmlformats.org/drawingml/2006/main" noGrp="1"/>
          </p:cNvSpPr>
          <p:nvPr/>
        </p:nvSpPr>
        <p:spPr>
          <a:xfrm xmlns:a="http://schemas.openxmlformats.org/drawingml/2006/main">
            <a:off x="640080" y="1783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3730A3"/>
                </a:solidFill>
                <a:latin typeface="Calibri"/>
                <a:ea typeface="Calibri"/>
                <a:cs typeface="Calibri"/>
              </a:rPr>
              <a:t>1</a:t>
            </a:r>
            <a:endParaRPr sz="3000"/>
          </a:p>
        </p:txBody>
      </p:sp>
      <p:sp>
        <p:nvSpPr>
          <p:cNvPr id="9" name="Text 6">
            <a:extLst xmlns:a="http://schemas.openxmlformats.org/drawingml/2006/main">
              <a:ext uri="{FF2B5EF4-FFF2-40B4-BE49-F238E27FC236}">
                <a16:creationId xmlns:a16="http://schemas.microsoft.com/office/drawing/2014/main" id="{C6449F23-E33C-49B6-ACBB-85A67DBC49C9}"/>
              </a:ext>
            </a:extLst>
          </p:cNvPr>
          <p:cNvSpPr>
            <a:spLocks xmlns:a="http://schemas.openxmlformats.org/drawingml/2006/main" noGrp="1"/>
          </p:cNvSpPr>
          <p:nvPr/>
        </p:nvSpPr>
        <p:spPr>
          <a:xfrm xmlns:a="http://schemas.openxmlformats.org/drawingml/2006/main">
            <a:off x="640080" y="2468880"/>
            <a:ext cx="2286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0F172A"/>
                </a:solidFill>
                <a:latin typeface="Calibri"/>
                <a:ea typeface="Calibri"/>
                <a:cs typeface="Calibri"/>
              </a:rPr>
              <a:t>Realistic questions</a:t>
            </a:r>
            <a:endParaRPr sz="1800"/>
          </a:p>
        </p:txBody>
      </p:sp>
      <p:sp>
        <p:nvSpPr>
          <p:cNvPr id="10" name="Text 7">
            <a:extLst xmlns:a="http://schemas.openxmlformats.org/drawingml/2006/main">
              <a:ext uri="{FF2B5EF4-FFF2-40B4-BE49-F238E27FC236}">
                <a16:creationId xmlns:a16="http://schemas.microsoft.com/office/drawing/2014/main" id="{62815F05-16CF-43CC-B8CB-BEE839982A3D}"/>
              </a:ext>
            </a:extLst>
          </p:cNvPr>
          <p:cNvSpPr>
            <a:spLocks xmlns:a="http://schemas.openxmlformats.org/drawingml/2006/main" noGrp="1"/>
          </p:cNvSpPr>
          <p:nvPr/>
        </p:nvSpPr>
        <p:spPr>
          <a:xfrm xmlns:a="http://schemas.openxmlformats.org/drawingml/2006/main">
            <a:off x="640080" y="2971800"/>
            <a:ext cx="2286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475569"/>
                </a:solidFill>
                <a:latin typeface="Calibri"/>
                <a:ea typeface="Calibri"/>
                <a:cs typeface="Calibri"/>
              </a:rPr>
              <a:t>6 to 8 technical and behavioral questions for the chosen role</a:t>
            </a:r>
            <a:endParaRPr sz="1400"/>
          </a:p>
        </p:txBody>
      </p:sp>
      <p:sp>
        <p:nvSpPr>
          <p:cNvPr id="11" name="Shape 8">
            <a:extLst xmlns:a="http://schemas.openxmlformats.org/drawingml/2006/main">
              <a:ext uri="{FF2B5EF4-FFF2-40B4-BE49-F238E27FC236}">
                <a16:creationId xmlns:a16="http://schemas.microsoft.com/office/drawing/2014/main" id="{1D66E031-0A9B-4199-94B1-232B2BB8ED2D}"/>
              </a:ext>
            </a:extLst>
          </p:cNvPr>
          <p:cNvSpPr>
            <a:spLocks xmlns:a="http://schemas.openxmlformats.org/drawingml/2006/main" noGrp="1"/>
          </p:cNvSpPr>
          <p:nvPr/>
        </p:nvSpPr>
        <p:spPr>
          <a:xfrm xmlns:a="http://schemas.openxmlformats.org/drawingml/2006/main">
            <a:off x="3291840" y="1645920"/>
            <a:ext cx="2606040" cy="2377440"/>
          </a:xfrm>
          <a:prstGeom xmlns:a="http://schemas.openxmlformats.org/drawingml/2006/main" prst="roundRect">
            <a:avLst>
              <a:gd name="adj" fmla="val 3077"/>
            </a:avLst>
          </a:prstGeom>
          <a:solidFill xmlns:a="http://schemas.openxmlformats.org/drawingml/2006/main">
            <a:srgbClr val="EEF2FF"/>
          </a:solidFill>
        </p:spPr>
      </p:sp>
      <p:sp>
        <p:nvSpPr>
          <p:cNvPr id="12" name="Text 9">
            <a:extLst xmlns:a="http://schemas.openxmlformats.org/drawingml/2006/main">
              <a:ext uri="{FF2B5EF4-FFF2-40B4-BE49-F238E27FC236}">
                <a16:creationId xmlns:a16="http://schemas.microsoft.com/office/drawing/2014/main" id="{F5446336-AF16-4400-8F80-D344B186AEF6}"/>
              </a:ext>
            </a:extLst>
          </p:cNvPr>
          <p:cNvSpPr>
            <a:spLocks xmlns:a="http://schemas.openxmlformats.org/drawingml/2006/main" noGrp="1"/>
          </p:cNvSpPr>
          <p:nvPr/>
        </p:nvSpPr>
        <p:spPr>
          <a:xfrm xmlns:a="http://schemas.openxmlformats.org/drawingml/2006/main">
            <a:off x="3474720" y="1783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3730A3"/>
                </a:solidFill>
                <a:latin typeface="Calibri"/>
                <a:ea typeface="Calibri"/>
                <a:cs typeface="Calibri"/>
              </a:rPr>
              <a:t>2</a:t>
            </a:r>
            <a:endParaRPr sz="3000"/>
          </a:p>
        </p:txBody>
      </p:sp>
      <p:sp>
        <p:nvSpPr>
          <p:cNvPr id="13" name="Text 10">
            <a:extLst xmlns:a="http://schemas.openxmlformats.org/drawingml/2006/main">
              <a:ext uri="{FF2B5EF4-FFF2-40B4-BE49-F238E27FC236}">
                <a16:creationId xmlns:a16="http://schemas.microsoft.com/office/drawing/2014/main" id="{44907177-A5AA-4AAA-8400-430EC23730D6}"/>
              </a:ext>
            </a:extLst>
          </p:cNvPr>
          <p:cNvSpPr>
            <a:spLocks xmlns:a="http://schemas.openxmlformats.org/drawingml/2006/main" noGrp="1"/>
          </p:cNvSpPr>
          <p:nvPr/>
        </p:nvSpPr>
        <p:spPr>
          <a:xfrm xmlns:a="http://schemas.openxmlformats.org/drawingml/2006/main">
            <a:off x="3474720" y="2468880"/>
            <a:ext cx="2286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0F172A"/>
                </a:solidFill>
                <a:latin typeface="Calibri"/>
                <a:ea typeface="Calibri"/>
                <a:cs typeface="Calibri"/>
              </a:rPr>
              <a:t>Five-dimension scoring</a:t>
            </a:r>
            <a:endParaRPr sz="1800"/>
          </a:p>
        </p:txBody>
      </p:sp>
      <p:sp>
        <p:nvSpPr>
          <p:cNvPr id="14" name="Text 11">
            <a:extLst xmlns:a="http://schemas.openxmlformats.org/drawingml/2006/main">
              <a:ext uri="{FF2B5EF4-FFF2-40B4-BE49-F238E27FC236}">
                <a16:creationId xmlns:a16="http://schemas.microsoft.com/office/drawing/2014/main" id="{18F8C9DD-FFC7-4217-A2BD-D238746C05B2}"/>
              </a:ext>
            </a:extLst>
          </p:cNvPr>
          <p:cNvSpPr>
            <a:spLocks xmlns:a="http://schemas.openxmlformats.org/drawingml/2006/main" noGrp="1"/>
          </p:cNvSpPr>
          <p:nvPr/>
        </p:nvSpPr>
        <p:spPr>
          <a:xfrm xmlns:a="http://schemas.openxmlformats.org/drawingml/2006/main">
            <a:off x="3474720" y="2971800"/>
            <a:ext cx="2286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475569"/>
                </a:solidFill>
                <a:latin typeface="Calibri"/>
                <a:ea typeface="Calibri"/>
                <a:cs typeface="Calibri"/>
              </a:rPr>
              <a:t>Clarity, relevance, domain knowledge, communication, STAR</a:t>
            </a:r>
            <a:endParaRPr sz="1400"/>
          </a:p>
        </p:txBody>
      </p:sp>
      <p:sp>
        <p:nvSpPr>
          <p:cNvPr id="15" name="Shape 12">
            <a:extLst xmlns:a="http://schemas.openxmlformats.org/drawingml/2006/main">
              <a:ext uri="{FF2B5EF4-FFF2-40B4-BE49-F238E27FC236}">
                <a16:creationId xmlns:a16="http://schemas.microsoft.com/office/drawing/2014/main" id="{5A60B06B-2B1C-44E9-AD79-98E3826F7C7A}"/>
              </a:ext>
            </a:extLst>
          </p:cNvPr>
          <p:cNvSpPr>
            <a:spLocks xmlns:a="http://schemas.openxmlformats.org/drawingml/2006/main" noGrp="1"/>
          </p:cNvSpPr>
          <p:nvPr/>
        </p:nvSpPr>
        <p:spPr>
          <a:xfrm xmlns:a="http://schemas.openxmlformats.org/drawingml/2006/main">
            <a:off x="6126480" y="1645920"/>
            <a:ext cx="2606040" cy="2377440"/>
          </a:xfrm>
          <a:prstGeom xmlns:a="http://schemas.openxmlformats.org/drawingml/2006/main" prst="roundRect">
            <a:avLst>
              <a:gd name="adj" fmla="val 3077"/>
            </a:avLst>
          </a:prstGeom>
          <a:solidFill xmlns:a="http://schemas.openxmlformats.org/drawingml/2006/main">
            <a:srgbClr val="EEF2FF"/>
          </a:solidFill>
        </p:spPr>
      </p:sp>
      <p:sp>
        <p:nvSpPr>
          <p:cNvPr id="16" name="Text 13">
            <a:extLst xmlns:a="http://schemas.openxmlformats.org/drawingml/2006/main">
              <a:ext uri="{FF2B5EF4-FFF2-40B4-BE49-F238E27FC236}">
                <a16:creationId xmlns:a16="http://schemas.microsoft.com/office/drawing/2014/main" id="{CECEA217-E46D-46F0-942E-01F75C117685}"/>
              </a:ext>
            </a:extLst>
          </p:cNvPr>
          <p:cNvSpPr>
            <a:spLocks xmlns:a="http://schemas.openxmlformats.org/drawingml/2006/main" noGrp="1"/>
          </p:cNvSpPr>
          <p:nvPr/>
        </p:nvSpPr>
        <p:spPr>
          <a:xfrm xmlns:a="http://schemas.openxmlformats.org/drawingml/2006/main">
            <a:off x="6309360" y="1783080"/>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000" b="1">
                <a:solidFill>
                  <a:srgbClr val="3730A3"/>
                </a:solidFill>
                <a:latin typeface="Calibri"/>
                <a:ea typeface="Calibri"/>
                <a:cs typeface="Calibri"/>
              </a:rPr>
              <a:t>3</a:t>
            </a:r>
            <a:endParaRPr sz="3000"/>
          </a:p>
        </p:txBody>
      </p:sp>
      <p:sp>
        <p:nvSpPr>
          <p:cNvPr id="17" name="Text 14">
            <a:extLst xmlns:a="http://schemas.openxmlformats.org/drawingml/2006/main">
              <a:ext uri="{FF2B5EF4-FFF2-40B4-BE49-F238E27FC236}">
                <a16:creationId xmlns:a16="http://schemas.microsoft.com/office/drawing/2014/main" id="{D11A7D12-7380-467C-8265-83584208074D}"/>
              </a:ext>
            </a:extLst>
          </p:cNvPr>
          <p:cNvSpPr>
            <a:spLocks xmlns:a="http://schemas.openxmlformats.org/drawingml/2006/main" noGrp="1"/>
          </p:cNvSpPr>
          <p:nvPr/>
        </p:nvSpPr>
        <p:spPr>
          <a:xfrm xmlns:a="http://schemas.openxmlformats.org/drawingml/2006/main">
            <a:off x="6309360" y="2468880"/>
            <a:ext cx="22860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0F172A"/>
                </a:solidFill>
                <a:latin typeface="Calibri"/>
                <a:ea typeface="Calibri"/>
                <a:cs typeface="Calibri"/>
              </a:rPr>
              <a:t>Actionable report</a:t>
            </a:r>
            <a:endParaRPr sz="1800"/>
          </a:p>
        </p:txBody>
      </p:sp>
      <p:sp>
        <p:nvSpPr>
          <p:cNvPr id="18" name="Text 15">
            <a:extLst xmlns:a="http://schemas.openxmlformats.org/drawingml/2006/main">
              <a:ext uri="{FF2B5EF4-FFF2-40B4-BE49-F238E27FC236}">
                <a16:creationId xmlns:a16="http://schemas.microsoft.com/office/drawing/2014/main" id="{319A602D-94EA-4DEF-B55D-9A37C43A0B10}"/>
              </a:ext>
            </a:extLst>
          </p:cNvPr>
          <p:cNvSpPr>
            <a:spLocks xmlns:a="http://schemas.openxmlformats.org/drawingml/2006/main" noGrp="1"/>
          </p:cNvSpPr>
          <p:nvPr/>
        </p:nvSpPr>
        <p:spPr>
          <a:xfrm xmlns:a="http://schemas.openxmlformats.org/drawingml/2006/main">
            <a:off x="6309360" y="2971800"/>
            <a:ext cx="22860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rgbClr val="475569"/>
                </a:solidFill>
                <a:latin typeface="Calibri"/>
                <a:ea typeface="Calibri"/>
                <a:cs typeface="Calibri"/>
              </a:rPr>
              <a:t>Readiness label, tips, example answers, and a downloadable PDF</a:t>
            </a:r>
            <a:endParaRPr sz="1400"/>
          </a:p>
        </p:txBody>
      </p:sp>
      <p:sp>
        <p:nvSpPr>
          <p:cNvPr id="19" name="Shape 16">
            <a:extLst xmlns:a="http://schemas.openxmlformats.org/drawingml/2006/main">
              <a:ext uri="{FF2B5EF4-FFF2-40B4-BE49-F238E27FC236}">
                <a16:creationId xmlns:a16="http://schemas.microsoft.com/office/drawing/2014/main" id="{D2FD0B6C-CADC-4923-A237-A3F6E53AD0D6}"/>
              </a:ext>
            </a:extLst>
          </p:cNvPr>
          <p:cNvSpPr>
            <a:spLocks xmlns:a="http://schemas.openxmlformats.org/drawingml/2006/main" noGrp="1"/>
          </p:cNvSpPr>
          <p:nvPr/>
        </p:nvSpPr>
        <p:spPr>
          <a:xfrm xmlns:a="http://schemas.openxmlformats.org/drawingml/2006/main">
            <a:off x="457200" y="4206240"/>
            <a:ext cx="8229600" cy="457200"/>
          </a:xfrm>
          <a:prstGeom xmlns:a="http://schemas.openxmlformats.org/drawingml/2006/main" prst="roundRect">
            <a:avLst>
              <a:gd name="adj" fmla="val 16000"/>
            </a:avLst>
          </a:prstGeom>
          <a:solidFill xmlns:a="http://schemas.openxmlformats.org/drawingml/2006/main">
            <a:srgbClr val="3730A3"/>
          </a:solidFill>
        </p:spPr>
      </p:sp>
      <p:sp>
        <p:nvSpPr>
          <p:cNvPr id="20" name="Text 17">
            <a:extLst xmlns:a="http://schemas.openxmlformats.org/drawingml/2006/main">
              <a:ext uri="{FF2B5EF4-FFF2-40B4-BE49-F238E27FC236}">
                <a16:creationId xmlns:a16="http://schemas.microsoft.com/office/drawing/2014/main" id="{3F542DE2-A394-4F95-A2C7-9F8FD712714F}"/>
              </a:ext>
            </a:extLst>
          </p:cNvPr>
          <p:cNvSpPr>
            <a:spLocks xmlns:a="http://schemas.openxmlformats.org/drawingml/2006/main" noGrp="1"/>
          </p:cNvSpPr>
          <p:nvPr/>
        </p:nvSpPr>
        <p:spPr>
          <a:xfrm xmlns:a="http://schemas.openxmlformats.org/drawingml/2006/main">
            <a:off x="640080" y="4206240"/>
            <a:ext cx="7863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Calibri"/>
                <a:ea typeface="Calibri"/>
                <a:cs typeface="Calibri"/>
              </a:rPr>
              <a:t>Potential fit: Skill Tank’s Interview Master / CRT programs and college placement practice.</a:t>
            </a:r>
            <a:endParaRPr sz="1400"/>
          </a:p>
        </p:txBody>
      </p:sp>
    </p:spTree>
    <p:extLst>
      <p:ext uri="{BB962C8B-B14F-4D97-AF65-F5344CB8AC3E}">
        <p14:creationId xmlns:p14="http://schemas.microsoft.com/office/powerpoint/2010/main" val="6999278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66E0F00-DE63-44AE-B9A4-3F70FCE51CE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2594ADDE-C9AD-4E81-9E78-A478A441EC65}"/>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HOW A STUDENT USES IT</a:t>
            </a:r>
            <a:endParaRPr sz="1200"/>
          </a:p>
        </p:txBody>
      </p:sp>
      <p:sp>
        <p:nvSpPr>
          <p:cNvPr id="4" name="Text 2">
            <a:extLst xmlns:a="http://schemas.openxmlformats.org/drawingml/2006/main">
              <a:ext uri="{FF2B5EF4-FFF2-40B4-BE49-F238E27FC236}">
                <a16:creationId xmlns:a16="http://schemas.microsoft.com/office/drawing/2014/main" id="{1AC35EA2-ED03-4F7A-B82F-AB26037A0E1C}"/>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A four-step journey, entirely in the browser</a:t>
            </a:r>
            <a:endParaRPr sz="2800"/>
          </a:p>
        </p:txBody>
      </p:sp>
      <p:sp>
        <p:nvSpPr>
          <p:cNvPr id="5" name="Text 3">
            <a:extLst xmlns:a="http://schemas.openxmlformats.org/drawingml/2006/main">
              <a:ext uri="{FF2B5EF4-FFF2-40B4-BE49-F238E27FC236}">
                <a16:creationId xmlns:a16="http://schemas.microsoft.com/office/drawing/2014/main" id="{1D73A96E-8F57-41F1-8FD4-182AC8BFDCD3}"/>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4</a:t>
            </a:r>
            <a:endParaRPr sz="1000"/>
          </a:p>
        </p:txBody>
      </p:sp>
      <p:sp>
        <p:nvSpPr>
          <p:cNvPr id="7" name="Shape 4">
            <a:extLst xmlns:a="http://schemas.openxmlformats.org/drawingml/2006/main">
              <a:ext uri="{FF2B5EF4-FFF2-40B4-BE49-F238E27FC236}">
                <a16:creationId xmlns:a16="http://schemas.microsoft.com/office/drawing/2014/main" id="{21A47C66-A070-4B09-AE83-1B605DFA9F8B}"/>
              </a:ext>
            </a:extLst>
          </p:cNvPr>
          <p:cNvSpPr>
            <a:spLocks xmlns:a="http://schemas.openxmlformats.org/drawingml/2006/main" noGrp="1"/>
          </p:cNvSpPr>
          <p:nvPr/>
        </p:nvSpPr>
        <p:spPr>
          <a:xfrm xmlns:a="http://schemas.openxmlformats.org/drawingml/2006/main">
            <a:off x="457200" y="1737360"/>
            <a:ext cx="1828800" cy="1188720"/>
          </a:xfrm>
          <a:prstGeom xmlns:a="http://schemas.openxmlformats.org/drawingml/2006/main" prst="chevron">
            <a:avLst>
              <a:gd name="adj" fmla="val 6154"/>
            </a:avLst>
          </a:prstGeom>
          <a:solidFill xmlns:a="http://schemas.openxmlformats.org/drawingml/2006/main">
            <a:srgbClr val="EEF2FF"/>
          </a:solidFill>
        </p:spPr>
      </p:sp>
      <p:sp>
        <p:nvSpPr>
          <p:cNvPr id="8" name="Text 5">
            <a:extLst xmlns:a="http://schemas.openxmlformats.org/drawingml/2006/main">
              <a:ext uri="{FF2B5EF4-FFF2-40B4-BE49-F238E27FC236}">
                <a16:creationId xmlns:a16="http://schemas.microsoft.com/office/drawing/2014/main" id="{A58DCF8B-C890-4BF3-8127-793A1D1DBB53}"/>
              </a:ext>
            </a:extLst>
          </p:cNvPr>
          <p:cNvSpPr>
            <a:spLocks xmlns:a="http://schemas.openxmlformats.org/drawingml/2006/main" noGrp="1"/>
          </p:cNvSpPr>
          <p:nvPr/>
        </p:nvSpPr>
        <p:spPr>
          <a:xfrm xmlns:a="http://schemas.openxmlformats.org/drawingml/2006/main">
            <a:off x="731520" y="1737360"/>
            <a:ext cx="13716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3730A3"/>
                </a:solidFill>
                <a:latin typeface="Calibri"/>
                <a:ea typeface="Calibri"/>
                <a:cs typeface="Calibri"/>
              </a:rPr>
              <a:t>Select</a:t>
            </a:r>
            <a:endParaRPr sz="1600"/>
          </a:p>
        </p:txBody>
      </p:sp>
      <p:sp>
        <p:nvSpPr>
          <p:cNvPr id="9" name="Text 6">
            <a:extLst xmlns:a="http://schemas.openxmlformats.org/drawingml/2006/main">
              <a:ext uri="{FF2B5EF4-FFF2-40B4-BE49-F238E27FC236}">
                <a16:creationId xmlns:a16="http://schemas.microsoft.com/office/drawing/2014/main" id="{6F8B371C-E702-4A3D-A7CF-E90ACC52459F}"/>
              </a:ext>
            </a:extLst>
          </p:cNvPr>
          <p:cNvSpPr>
            <a:spLocks xmlns:a="http://schemas.openxmlformats.org/drawingml/2006/main" noGrp="1"/>
          </p:cNvSpPr>
          <p:nvPr/>
        </p:nvSpPr>
        <p:spPr>
          <a:xfrm xmlns:a="http://schemas.openxmlformats.org/drawingml/2006/main">
            <a:off x="548640" y="3108960"/>
            <a:ext cx="16459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475569"/>
                </a:solidFill>
                <a:latin typeface="Calibri"/>
                <a:ea typeface="Calibri"/>
                <a:cs typeface="Calibri"/>
              </a:rPr>
              <a:t>Pick a role, level, and mode</a:t>
            </a:r>
            <a:endParaRPr sz="1300"/>
          </a:p>
        </p:txBody>
      </p:sp>
      <p:sp>
        <p:nvSpPr>
          <p:cNvPr id="10" name="Shape 7">
            <a:extLst xmlns:a="http://schemas.openxmlformats.org/drawingml/2006/main">
              <a:ext uri="{FF2B5EF4-FFF2-40B4-BE49-F238E27FC236}">
                <a16:creationId xmlns:a16="http://schemas.microsoft.com/office/drawing/2014/main" id="{7690736F-2FAF-471C-8C91-60391B0BE3CD}"/>
              </a:ext>
            </a:extLst>
          </p:cNvPr>
          <p:cNvSpPr>
            <a:spLocks xmlns:a="http://schemas.openxmlformats.org/drawingml/2006/main" noGrp="1"/>
          </p:cNvSpPr>
          <p:nvPr/>
        </p:nvSpPr>
        <p:spPr>
          <a:xfrm xmlns:a="http://schemas.openxmlformats.org/drawingml/2006/main">
            <a:off x="2560320" y="1737360"/>
            <a:ext cx="1828800" cy="1188720"/>
          </a:xfrm>
          <a:prstGeom xmlns:a="http://schemas.openxmlformats.org/drawingml/2006/main" prst="chevron">
            <a:avLst>
              <a:gd name="adj" fmla="val 6154"/>
            </a:avLst>
          </a:prstGeom>
          <a:solidFill xmlns:a="http://schemas.openxmlformats.org/drawingml/2006/main">
            <a:srgbClr val="EEF2FF"/>
          </a:solidFill>
        </p:spPr>
      </p:sp>
      <p:sp>
        <p:nvSpPr>
          <p:cNvPr id="11" name="Text 8">
            <a:extLst xmlns:a="http://schemas.openxmlformats.org/drawingml/2006/main">
              <a:ext uri="{FF2B5EF4-FFF2-40B4-BE49-F238E27FC236}">
                <a16:creationId xmlns:a16="http://schemas.microsoft.com/office/drawing/2014/main" id="{37610247-FD77-4EBC-AB3A-C6A14620CBF7}"/>
              </a:ext>
            </a:extLst>
          </p:cNvPr>
          <p:cNvSpPr>
            <a:spLocks xmlns:a="http://schemas.openxmlformats.org/drawingml/2006/main" noGrp="1"/>
          </p:cNvSpPr>
          <p:nvPr/>
        </p:nvSpPr>
        <p:spPr>
          <a:xfrm xmlns:a="http://schemas.openxmlformats.org/drawingml/2006/main">
            <a:off x="2834640" y="1737360"/>
            <a:ext cx="13716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3730A3"/>
                </a:solidFill>
                <a:latin typeface="Calibri"/>
                <a:ea typeface="Calibri"/>
                <a:cs typeface="Calibri"/>
              </a:rPr>
              <a:t>Answer</a:t>
            </a:r>
            <a:endParaRPr sz="1600"/>
          </a:p>
        </p:txBody>
      </p:sp>
      <p:sp>
        <p:nvSpPr>
          <p:cNvPr id="12" name="Text 9">
            <a:extLst xmlns:a="http://schemas.openxmlformats.org/drawingml/2006/main">
              <a:ext uri="{FF2B5EF4-FFF2-40B4-BE49-F238E27FC236}">
                <a16:creationId xmlns:a16="http://schemas.microsoft.com/office/drawing/2014/main" id="{C5BF6D4A-2D11-466E-B004-9FFAFA8D81D5}"/>
              </a:ext>
            </a:extLst>
          </p:cNvPr>
          <p:cNvSpPr>
            <a:spLocks xmlns:a="http://schemas.openxmlformats.org/drawingml/2006/main" noGrp="1"/>
          </p:cNvSpPr>
          <p:nvPr/>
        </p:nvSpPr>
        <p:spPr>
          <a:xfrm xmlns:a="http://schemas.openxmlformats.org/drawingml/2006/main">
            <a:off x="2651760" y="3108960"/>
            <a:ext cx="16459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475569"/>
                </a:solidFill>
                <a:latin typeface="Calibri"/>
                <a:ea typeface="Calibri"/>
                <a:cs typeface="Calibri"/>
              </a:rPr>
              <a:t>Type answers to each question</a:t>
            </a:r>
            <a:endParaRPr sz="1300"/>
          </a:p>
        </p:txBody>
      </p:sp>
      <p:sp>
        <p:nvSpPr>
          <p:cNvPr id="13" name="Shape 10">
            <a:extLst xmlns:a="http://schemas.openxmlformats.org/drawingml/2006/main">
              <a:ext uri="{FF2B5EF4-FFF2-40B4-BE49-F238E27FC236}">
                <a16:creationId xmlns:a16="http://schemas.microsoft.com/office/drawing/2014/main" id="{8AC64419-6C47-490E-A527-2431E8823714}"/>
              </a:ext>
            </a:extLst>
          </p:cNvPr>
          <p:cNvSpPr>
            <a:spLocks xmlns:a="http://schemas.openxmlformats.org/drawingml/2006/main" noGrp="1"/>
          </p:cNvSpPr>
          <p:nvPr/>
        </p:nvSpPr>
        <p:spPr>
          <a:xfrm xmlns:a="http://schemas.openxmlformats.org/drawingml/2006/main">
            <a:off x="4663440" y="1737360"/>
            <a:ext cx="1828800" cy="1188720"/>
          </a:xfrm>
          <a:prstGeom xmlns:a="http://schemas.openxmlformats.org/drawingml/2006/main" prst="chevron">
            <a:avLst>
              <a:gd name="adj" fmla="val 6154"/>
            </a:avLst>
          </a:prstGeom>
          <a:solidFill xmlns:a="http://schemas.openxmlformats.org/drawingml/2006/main">
            <a:srgbClr val="3730A3"/>
          </a:solidFill>
        </p:spPr>
      </p:sp>
      <p:sp>
        <p:nvSpPr>
          <p:cNvPr id="14" name="Text 11">
            <a:extLst xmlns:a="http://schemas.openxmlformats.org/drawingml/2006/main">
              <a:ext uri="{FF2B5EF4-FFF2-40B4-BE49-F238E27FC236}">
                <a16:creationId xmlns:a16="http://schemas.microsoft.com/office/drawing/2014/main" id="{14A4BD36-BC20-45BB-8E6A-0D4310BC9D54}"/>
              </a:ext>
            </a:extLst>
          </p:cNvPr>
          <p:cNvSpPr>
            <a:spLocks xmlns:a="http://schemas.openxmlformats.org/drawingml/2006/main" noGrp="1"/>
          </p:cNvSpPr>
          <p:nvPr/>
        </p:nvSpPr>
        <p:spPr>
          <a:xfrm xmlns:a="http://schemas.openxmlformats.org/drawingml/2006/main">
            <a:off x="4937760" y="1737360"/>
            <a:ext cx="13716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Evaluate</a:t>
            </a:r>
            <a:endParaRPr sz="1600"/>
          </a:p>
        </p:txBody>
      </p:sp>
      <p:sp>
        <p:nvSpPr>
          <p:cNvPr id="15" name="Text 12">
            <a:extLst xmlns:a="http://schemas.openxmlformats.org/drawingml/2006/main">
              <a:ext uri="{FF2B5EF4-FFF2-40B4-BE49-F238E27FC236}">
                <a16:creationId xmlns:a16="http://schemas.microsoft.com/office/drawing/2014/main" id="{F7FC50BE-1781-4CB1-94E2-B77B816AC20C}"/>
              </a:ext>
            </a:extLst>
          </p:cNvPr>
          <p:cNvSpPr>
            <a:spLocks xmlns:a="http://schemas.openxmlformats.org/drawingml/2006/main" noGrp="1"/>
          </p:cNvSpPr>
          <p:nvPr/>
        </p:nvSpPr>
        <p:spPr>
          <a:xfrm xmlns:a="http://schemas.openxmlformats.org/drawingml/2006/main">
            <a:off x="4754880" y="3108960"/>
            <a:ext cx="16459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475569"/>
                </a:solidFill>
                <a:latin typeface="Calibri"/>
                <a:ea typeface="Calibri"/>
                <a:cs typeface="Calibri"/>
              </a:rPr>
              <a:t>Five scores, tips, and a readiness level</a:t>
            </a:r>
            <a:endParaRPr sz="1300"/>
          </a:p>
        </p:txBody>
      </p:sp>
      <p:sp>
        <p:nvSpPr>
          <p:cNvPr id="16" name="Shape 13">
            <a:extLst xmlns:a="http://schemas.openxmlformats.org/drawingml/2006/main">
              <a:ext uri="{FF2B5EF4-FFF2-40B4-BE49-F238E27FC236}">
                <a16:creationId xmlns:a16="http://schemas.microsoft.com/office/drawing/2014/main" id="{C0BD3898-8006-443A-ACE1-CAD1AD6D0191}"/>
              </a:ext>
            </a:extLst>
          </p:cNvPr>
          <p:cNvSpPr>
            <a:spLocks xmlns:a="http://schemas.openxmlformats.org/drawingml/2006/main" noGrp="1"/>
          </p:cNvSpPr>
          <p:nvPr/>
        </p:nvSpPr>
        <p:spPr>
          <a:xfrm xmlns:a="http://schemas.openxmlformats.org/drawingml/2006/main">
            <a:off x="6766560" y="1737360"/>
            <a:ext cx="1828800" cy="1188720"/>
          </a:xfrm>
          <a:prstGeom xmlns:a="http://schemas.openxmlformats.org/drawingml/2006/main" prst="chevron">
            <a:avLst>
              <a:gd name="adj" fmla="val 6154"/>
            </a:avLst>
          </a:prstGeom>
          <a:solidFill xmlns:a="http://schemas.openxmlformats.org/drawingml/2006/main">
            <a:srgbClr val="EEF2FF"/>
          </a:solidFill>
        </p:spPr>
      </p:sp>
      <p:sp>
        <p:nvSpPr>
          <p:cNvPr id="17" name="Text 14">
            <a:extLst xmlns:a="http://schemas.openxmlformats.org/drawingml/2006/main">
              <a:ext uri="{FF2B5EF4-FFF2-40B4-BE49-F238E27FC236}">
                <a16:creationId xmlns:a16="http://schemas.microsoft.com/office/drawing/2014/main" id="{23F697D5-D06A-46F9-97A9-434E107415BF}"/>
              </a:ext>
            </a:extLst>
          </p:cNvPr>
          <p:cNvSpPr>
            <a:spLocks xmlns:a="http://schemas.openxmlformats.org/drawingml/2006/main" noGrp="1"/>
          </p:cNvSpPr>
          <p:nvPr/>
        </p:nvSpPr>
        <p:spPr>
          <a:xfrm xmlns:a="http://schemas.openxmlformats.org/drawingml/2006/main">
            <a:off x="7040880" y="1737360"/>
            <a:ext cx="13716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3730A3"/>
                </a:solidFill>
                <a:latin typeface="Calibri"/>
                <a:ea typeface="Calibri"/>
                <a:cs typeface="Calibri"/>
              </a:rPr>
              <a:t>Export</a:t>
            </a:r>
            <a:endParaRPr sz="1600"/>
          </a:p>
        </p:txBody>
      </p:sp>
      <p:sp>
        <p:nvSpPr>
          <p:cNvPr id="18" name="Text 15">
            <a:extLst xmlns:a="http://schemas.openxmlformats.org/drawingml/2006/main">
              <a:ext uri="{FF2B5EF4-FFF2-40B4-BE49-F238E27FC236}">
                <a16:creationId xmlns:a16="http://schemas.microsoft.com/office/drawing/2014/main" id="{3B935446-21F5-42E9-9525-B13C735DFA38}"/>
              </a:ext>
            </a:extLst>
          </p:cNvPr>
          <p:cNvSpPr>
            <a:spLocks xmlns:a="http://schemas.openxmlformats.org/drawingml/2006/main" noGrp="1"/>
          </p:cNvSpPr>
          <p:nvPr/>
        </p:nvSpPr>
        <p:spPr>
          <a:xfrm xmlns:a="http://schemas.openxmlformats.org/drawingml/2006/main">
            <a:off x="6858000" y="3108960"/>
            <a:ext cx="16459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300">
                <a:solidFill>
                  <a:srgbClr val="475569"/>
                </a:solidFill>
                <a:latin typeface="Calibri"/>
                <a:ea typeface="Calibri"/>
                <a:cs typeface="Calibri"/>
              </a:rPr>
              <a:t>Download the PDF report</a:t>
            </a:r>
            <a:endParaRPr sz="1300"/>
          </a:p>
        </p:txBody>
      </p:sp>
      <p:sp>
        <p:nvSpPr>
          <p:cNvPr id="19" name="Shape 16">
            <a:extLst xmlns:a="http://schemas.openxmlformats.org/drawingml/2006/main">
              <a:ext uri="{FF2B5EF4-FFF2-40B4-BE49-F238E27FC236}">
                <a16:creationId xmlns:a16="http://schemas.microsoft.com/office/drawing/2014/main" id="{40FBDBE4-1BD6-4EE6-978C-4D8DC04D54F0}"/>
              </a:ext>
            </a:extLst>
          </p:cNvPr>
          <p:cNvSpPr>
            <a:spLocks xmlns:a="http://schemas.openxmlformats.org/drawingml/2006/main" noGrp="1"/>
          </p:cNvSpPr>
          <p:nvPr/>
        </p:nvSpPr>
        <p:spPr>
          <a:xfrm xmlns:a="http://schemas.openxmlformats.org/drawingml/2006/main">
            <a:off x="457200" y="4114800"/>
            <a:ext cx="8229600" cy="457200"/>
          </a:xfrm>
          <a:prstGeom xmlns:a="http://schemas.openxmlformats.org/drawingml/2006/main" prst="roundRect">
            <a:avLst>
              <a:gd name="adj" fmla="val 16000"/>
            </a:avLst>
          </a:prstGeom>
          <a:solidFill xmlns:a="http://schemas.openxmlformats.org/drawingml/2006/main">
            <a:srgbClr val="F8FAFC"/>
          </a:solidFill>
          <a:ln xmlns:a="http://schemas.openxmlformats.org/drawingml/2006/main" w="12700">
            <a:solidFill>
              <a:srgbClr val="CBD5E1"/>
            </a:solidFill>
            <a:prstDash val="solid"/>
          </a:ln>
        </p:spPr>
      </p:sp>
      <p:sp>
        <p:nvSpPr>
          <p:cNvPr id="20" name="Text 17">
            <a:extLst xmlns:a="http://schemas.openxmlformats.org/drawingml/2006/main">
              <a:ext uri="{FF2B5EF4-FFF2-40B4-BE49-F238E27FC236}">
                <a16:creationId xmlns:a16="http://schemas.microsoft.com/office/drawing/2014/main" id="{20BAD3D3-F74F-408F-8EC4-A3D6F5CDE927}"/>
              </a:ext>
            </a:extLst>
          </p:cNvPr>
          <p:cNvSpPr>
            <a:spLocks xmlns:a="http://schemas.openxmlformats.org/drawingml/2006/main" noGrp="1"/>
          </p:cNvSpPr>
          <p:nvPr/>
        </p:nvSpPr>
        <p:spPr>
          <a:xfrm xmlns:a="http://schemas.openxmlformats.org/drawingml/2006/main">
            <a:off x="640080" y="4114800"/>
            <a:ext cx="7863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0F172A"/>
                </a:solidFill>
                <a:latin typeface="Calibri"/>
                <a:ea typeface="Calibri"/>
                <a:cs typeface="Calibri"/>
              </a:rPr>
              <a:t>No install. Sign in with email/password; your sessions are saved privately in Convex.</a:t>
            </a:r>
            <a:endParaRPr sz="1400"/>
          </a:p>
        </p:txBody>
      </p:sp>
    </p:spTree>
    <p:extLst>
      <p:ext uri="{BB962C8B-B14F-4D97-AF65-F5344CB8AC3E}">
        <p14:creationId xmlns:p14="http://schemas.microsoft.com/office/powerpoint/2010/main" val="1479617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E36DBF8-A3CA-48A0-9588-887B358DEC66}"/>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D49512F5-D8DB-4A4D-B4A5-BDDA06D8CD96}"/>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STEPS 1 AND 2</a:t>
            </a:r>
            <a:endParaRPr sz="1200"/>
          </a:p>
        </p:txBody>
      </p:sp>
      <p:sp>
        <p:nvSpPr>
          <p:cNvPr id="4" name="Text 2">
            <a:extLst xmlns:a="http://schemas.openxmlformats.org/drawingml/2006/main">
              <a:ext uri="{FF2B5EF4-FFF2-40B4-BE49-F238E27FC236}">
                <a16:creationId xmlns:a16="http://schemas.microsoft.com/office/drawing/2014/main" id="{AF73C22E-02D9-4D72-8587-62EB559F5AB1}"/>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Role-based practice, with feedback at the right time</a:t>
            </a:r>
            <a:endParaRPr sz="2800"/>
          </a:p>
        </p:txBody>
      </p:sp>
      <p:sp>
        <p:nvSpPr>
          <p:cNvPr id="5" name="Text 3">
            <a:extLst xmlns:a="http://schemas.openxmlformats.org/drawingml/2006/main">
              <a:ext uri="{FF2B5EF4-FFF2-40B4-BE49-F238E27FC236}">
                <a16:creationId xmlns:a16="http://schemas.microsoft.com/office/drawing/2014/main" id="{F971D5FC-6224-411F-B86A-B2EAB92BB357}"/>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5</a:t>
            </a:r>
            <a:endParaRPr sz="1000"/>
          </a:p>
        </p:txBody>
      </p:sp>
      <p:sp>
        <p:nvSpPr>
          <p:cNvPr id="7" name="Text 4">
            <a:extLst xmlns:a="http://schemas.openxmlformats.org/drawingml/2006/main">
              <a:ext uri="{FF2B5EF4-FFF2-40B4-BE49-F238E27FC236}">
                <a16:creationId xmlns:a16="http://schemas.microsoft.com/office/drawing/2014/main" id="{3C1A3ACA-CFB9-4F23-B6B0-020DE235686F}"/>
              </a:ext>
            </a:extLst>
          </p:cNvPr>
          <p:cNvSpPr>
            <a:spLocks xmlns:a="http://schemas.openxmlformats.org/drawingml/2006/main" noGrp="1"/>
          </p:cNvSpPr>
          <p:nvPr/>
        </p:nvSpPr>
        <p:spPr>
          <a:xfrm xmlns:a="http://schemas.openxmlformats.org/drawingml/2006/main">
            <a:off x="457200" y="146304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730A3"/>
                </a:solidFill>
                <a:latin typeface="Calibri"/>
                <a:ea typeface="Calibri"/>
                <a:cs typeface="Calibri"/>
              </a:rPr>
              <a:t>Six roles</a:t>
            </a:r>
            <a:endParaRPr sz="1600"/>
          </a:p>
        </p:txBody>
      </p:sp>
      <p:sp>
        <p:nvSpPr>
          <p:cNvPr id="8" name="Shape 5">
            <a:extLst xmlns:a="http://schemas.openxmlformats.org/drawingml/2006/main">
              <a:ext uri="{FF2B5EF4-FFF2-40B4-BE49-F238E27FC236}">
                <a16:creationId xmlns:a16="http://schemas.microsoft.com/office/drawing/2014/main" id="{4EAEA932-BD01-4512-B188-FA44F776E506}"/>
              </a:ext>
            </a:extLst>
          </p:cNvPr>
          <p:cNvSpPr>
            <a:spLocks xmlns:a="http://schemas.openxmlformats.org/drawingml/2006/main" noGrp="1"/>
          </p:cNvSpPr>
          <p:nvPr/>
        </p:nvSpPr>
        <p:spPr>
          <a:xfrm xmlns:a="http://schemas.openxmlformats.org/drawingml/2006/main">
            <a:off x="457200" y="1874520"/>
            <a:ext cx="1828800" cy="548640"/>
          </a:xfrm>
          <a:prstGeom xmlns:a="http://schemas.openxmlformats.org/drawingml/2006/main" prst="roundRect">
            <a:avLst>
              <a:gd name="adj" fmla="val 13333"/>
            </a:avLst>
          </a:prstGeom>
          <a:solidFill xmlns:a="http://schemas.openxmlformats.org/drawingml/2006/main">
            <a:srgbClr val="EEF2FF"/>
          </a:solidFill>
        </p:spPr>
      </p:sp>
      <p:sp>
        <p:nvSpPr>
          <p:cNvPr id="9" name="Text 6">
            <a:extLst xmlns:a="http://schemas.openxmlformats.org/drawingml/2006/main">
              <a:ext uri="{FF2B5EF4-FFF2-40B4-BE49-F238E27FC236}">
                <a16:creationId xmlns:a16="http://schemas.microsoft.com/office/drawing/2014/main" id="{108CB38B-13DD-420A-9E0E-AEC890C7F62D}"/>
              </a:ext>
            </a:extLst>
          </p:cNvPr>
          <p:cNvSpPr>
            <a:spLocks xmlns:a="http://schemas.openxmlformats.org/drawingml/2006/main" noGrp="1"/>
          </p:cNvSpPr>
          <p:nvPr/>
        </p:nvSpPr>
        <p:spPr>
          <a:xfrm xmlns:a="http://schemas.openxmlformats.org/drawingml/2006/main">
            <a:off x="548640" y="187452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3730A3"/>
                </a:solidFill>
                <a:latin typeface="Calibri"/>
                <a:ea typeface="Calibri"/>
                <a:cs typeface="Calibri"/>
              </a:rPr>
              <a:t>Software Engineer</a:t>
            </a:r>
            <a:endParaRPr sz="1200"/>
          </a:p>
        </p:txBody>
      </p:sp>
      <p:sp>
        <p:nvSpPr>
          <p:cNvPr id="10" name="Shape 7">
            <a:extLst xmlns:a="http://schemas.openxmlformats.org/drawingml/2006/main">
              <a:ext uri="{FF2B5EF4-FFF2-40B4-BE49-F238E27FC236}">
                <a16:creationId xmlns:a16="http://schemas.microsoft.com/office/drawing/2014/main" id="{AE332676-24C6-4DD2-8DC4-27B56E11242E}"/>
              </a:ext>
            </a:extLst>
          </p:cNvPr>
          <p:cNvSpPr>
            <a:spLocks xmlns:a="http://schemas.openxmlformats.org/drawingml/2006/main" noGrp="1"/>
          </p:cNvSpPr>
          <p:nvPr/>
        </p:nvSpPr>
        <p:spPr>
          <a:xfrm xmlns:a="http://schemas.openxmlformats.org/drawingml/2006/main">
            <a:off x="2377440" y="1874520"/>
            <a:ext cx="1828800" cy="548640"/>
          </a:xfrm>
          <a:prstGeom xmlns:a="http://schemas.openxmlformats.org/drawingml/2006/main" prst="roundRect">
            <a:avLst>
              <a:gd name="adj" fmla="val 13333"/>
            </a:avLst>
          </a:prstGeom>
          <a:solidFill xmlns:a="http://schemas.openxmlformats.org/drawingml/2006/main">
            <a:srgbClr val="EEF2FF"/>
          </a:solidFill>
        </p:spPr>
      </p:sp>
      <p:sp>
        <p:nvSpPr>
          <p:cNvPr id="11" name="Text 8">
            <a:extLst xmlns:a="http://schemas.openxmlformats.org/drawingml/2006/main">
              <a:ext uri="{FF2B5EF4-FFF2-40B4-BE49-F238E27FC236}">
                <a16:creationId xmlns:a16="http://schemas.microsoft.com/office/drawing/2014/main" id="{1648B9A9-0D80-4685-B1BE-B740D120D554}"/>
              </a:ext>
            </a:extLst>
          </p:cNvPr>
          <p:cNvSpPr>
            <a:spLocks xmlns:a="http://schemas.openxmlformats.org/drawingml/2006/main" noGrp="1"/>
          </p:cNvSpPr>
          <p:nvPr/>
        </p:nvSpPr>
        <p:spPr>
          <a:xfrm xmlns:a="http://schemas.openxmlformats.org/drawingml/2006/main">
            <a:off x="2468880" y="187452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3730A3"/>
                </a:solidFill>
                <a:latin typeface="Calibri"/>
                <a:ea typeface="Calibri"/>
                <a:cs typeface="Calibri"/>
              </a:rPr>
              <a:t>Data Analyst</a:t>
            </a:r>
            <a:endParaRPr sz="1200"/>
          </a:p>
        </p:txBody>
      </p:sp>
      <p:sp>
        <p:nvSpPr>
          <p:cNvPr id="12" name="Shape 9">
            <a:extLst xmlns:a="http://schemas.openxmlformats.org/drawingml/2006/main">
              <a:ext uri="{FF2B5EF4-FFF2-40B4-BE49-F238E27FC236}">
                <a16:creationId xmlns:a16="http://schemas.microsoft.com/office/drawing/2014/main" id="{455E7765-610C-4AAD-BC05-06E73EA781A4}"/>
              </a:ext>
            </a:extLst>
          </p:cNvPr>
          <p:cNvSpPr>
            <a:spLocks xmlns:a="http://schemas.openxmlformats.org/drawingml/2006/main" noGrp="1"/>
          </p:cNvSpPr>
          <p:nvPr/>
        </p:nvSpPr>
        <p:spPr>
          <a:xfrm xmlns:a="http://schemas.openxmlformats.org/drawingml/2006/main">
            <a:off x="457200" y="2560320"/>
            <a:ext cx="1828800" cy="548640"/>
          </a:xfrm>
          <a:prstGeom xmlns:a="http://schemas.openxmlformats.org/drawingml/2006/main" prst="roundRect">
            <a:avLst>
              <a:gd name="adj" fmla="val 13333"/>
            </a:avLst>
          </a:prstGeom>
          <a:solidFill xmlns:a="http://schemas.openxmlformats.org/drawingml/2006/main">
            <a:srgbClr val="EEF2FF"/>
          </a:solidFill>
        </p:spPr>
      </p:sp>
      <p:sp>
        <p:nvSpPr>
          <p:cNvPr id="13" name="Text 10">
            <a:extLst xmlns:a="http://schemas.openxmlformats.org/drawingml/2006/main">
              <a:ext uri="{FF2B5EF4-FFF2-40B4-BE49-F238E27FC236}">
                <a16:creationId xmlns:a16="http://schemas.microsoft.com/office/drawing/2014/main" id="{E4114BA6-F12B-4F9D-9645-B1486FB7E137}"/>
              </a:ext>
            </a:extLst>
          </p:cNvPr>
          <p:cNvSpPr>
            <a:spLocks xmlns:a="http://schemas.openxmlformats.org/drawingml/2006/main" noGrp="1"/>
          </p:cNvSpPr>
          <p:nvPr/>
        </p:nvSpPr>
        <p:spPr>
          <a:xfrm xmlns:a="http://schemas.openxmlformats.org/drawingml/2006/main">
            <a:off x="548640" y="256032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3730A3"/>
                </a:solidFill>
                <a:latin typeface="Calibri"/>
                <a:ea typeface="Calibri"/>
                <a:cs typeface="Calibri"/>
              </a:rPr>
              <a:t>Business Analyst</a:t>
            </a:r>
            <a:endParaRPr sz="1200"/>
          </a:p>
        </p:txBody>
      </p:sp>
      <p:sp>
        <p:nvSpPr>
          <p:cNvPr id="14" name="Shape 11">
            <a:extLst xmlns:a="http://schemas.openxmlformats.org/drawingml/2006/main">
              <a:ext uri="{FF2B5EF4-FFF2-40B4-BE49-F238E27FC236}">
                <a16:creationId xmlns:a16="http://schemas.microsoft.com/office/drawing/2014/main" id="{054D4302-D219-4296-8D84-F25A346DCB22}"/>
              </a:ext>
            </a:extLst>
          </p:cNvPr>
          <p:cNvSpPr>
            <a:spLocks xmlns:a="http://schemas.openxmlformats.org/drawingml/2006/main" noGrp="1"/>
          </p:cNvSpPr>
          <p:nvPr/>
        </p:nvSpPr>
        <p:spPr>
          <a:xfrm xmlns:a="http://schemas.openxmlformats.org/drawingml/2006/main">
            <a:off x="2377440" y="2560320"/>
            <a:ext cx="1828800" cy="548640"/>
          </a:xfrm>
          <a:prstGeom xmlns:a="http://schemas.openxmlformats.org/drawingml/2006/main" prst="roundRect">
            <a:avLst>
              <a:gd name="adj" fmla="val 13333"/>
            </a:avLst>
          </a:prstGeom>
          <a:solidFill xmlns:a="http://schemas.openxmlformats.org/drawingml/2006/main">
            <a:srgbClr val="EEF2FF"/>
          </a:solidFill>
        </p:spPr>
      </p:sp>
      <p:sp>
        <p:nvSpPr>
          <p:cNvPr id="15" name="Text 12">
            <a:extLst xmlns:a="http://schemas.openxmlformats.org/drawingml/2006/main">
              <a:ext uri="{FF2B5EF4-FFF2-40B4-BE49-F238E27FC236}">
                <a16:creationId xmlns:a16="http://schemas.microsoft.com/office/drawing/2014/main" id="{B85A8CC5-7488-4400-A160-299A8DE11544}"/>
              </a:ext>
            </a:extLst>
          </p:cNvPr>
          <p:cNvSpPr>
            <a:spLocks xmlns:a="http://schemas.openxmlformats.org/drawingml/2006/main" noGrp="1"/>
          </p:cNvSpPr>
          <p:nvPr/>
        </p:nvSpPr>
        <p:spPr>
          <a:xfrm xmlns:a="http://schemas.openxmlformats.org/drawingml/2006/main">
            <a:off x="2468880" y="256032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3730A3"/>
                </a:solidFill>
                <a:latin typeface="Calibri"/>
                <a:ea typeface="Calibri"/>
                <a:cs typeface="Calibri"/>
              </a:rPr>
              <a:t>Frontend Developer</a:t>
            </a:r>
            <a:endParaRPr sz="1200"/>
          </a:p>
        </p:txBody>
      </p:sp>
      <p:sp>
        <p:nvSpPr>
          <p:cNvPr id="16" name="Shape 13">
            <a:extLst xmlns:a="http://schemas.openxmlformats.org/drawingml/2006/main">
              <a:ext uri="{FF2B5EF4-FFF2-40B4-BE49-F238E27FC236}">
                <a16:creationId xmlns:a16="http://schemas.microsoft.com/office/drawing/2014/main" id="{079E66E4-35D0-4219-96BC-BB2F92FFD170}"/>
              </a:ext>
            </a:extLst>
          </p:cNvPr>
          <p:cNvSpPr>
            <a:spLocks xmlns:a="http://schemas.openxmlformats.org/drawingml/2006/main" noGrp="1"/>
          </p:cNvSpPr>
          <p:nvPr/>
        </p:nvSpPr>
        <p:spPr>
          <a:xfrm xmlns:a="http://schemas.openxmlformats.org/drawingml/2006/main">
            <a:off x="457200" y="3246120"/>
            <a:ext cx="1828800" cy="548640"/>
          </a:xfrm>
          <a:prstGeom xmlns:a="http://schemas.openxmlformats.org/drawingml/2006/main" prst="roundRect">
            <a:avLst>
              <a:gd name="adj" fmla="val 13333"/>
            </a:avLst>
          </a:prstGeom>
          <a:solidFill xmlns:a="http://schemas.openxmlformats.org/drawingml/2006/main">
            <a:srgbClr val="EEF2FF"/>
          </a:solidFill>
        </p:spPr>
      </p:sp>
      <p:sp>
        <p:nvSpPr>
          <p:cNvPr id="17" name="Text 14">
            <a:extLst xmlns:a="http://schemas.openxmlformats.org/drawingml/2006/main">
              <a:ext uri="{FF2B5EF4-FFF2-40B4-BE49-F238E27FC236}">
                <a16:creationId xmlns:a16="http://schemas.microsoft.com/office/drawing/2014/main" id="{EFBAB893-8191-4F30-A008-78E66C5BDFE6}"/>
              </a:ext>
            </a:extLst>
          </p:cNvPr>
          <p:cNvSpPr>
            <a:spLocks xmlns:a="http://schemas.openxmlformats.org/drawingml/2006/main" noGrp="1"/>
          </p:cNvSpPr>
          <p:nvPr/>
        </p:nvSpPr>
        <p:spPr>
          <a:xfrm xmlns:a="http://schemas.openxmlformats.org/drawingml/2006/main">
            <a:off x="548640" y="324612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3730A3"/>
                </a:solidFill>
                <a:latin typeface="Calibri"/>
                <a:ea typeface="Calibri"/>
                <a:cs typeface="Calibri"/>
              </a:rPr>
              <a:t>Marketing Associate</a:t>
            </a:r>
            <a:endParaRPr sz="1200"/>
          </a:p>
        </p:txBody>
      </p:sp>
      <p:sp>
        <p:nvSpPr>
          <p:cNvPr id="18" name="Shape 15">
            <a:extLst xmlns:a="http://schemas.openxmlformats.org/drawingml/2006/main">
              <a:ext uri="{FF2B5EF4-FFF2-40B4-BE49-F238E27FC236}">
                <a16:creationId xmlns:a16="http://schemas.microsoft.com/office/drawing/2014/main" id="{18EB8F86-84A5-4007-B4CC-7A7ECFE6BA86}"/>
              </a:ext>
            </a:extLst>
          </p:cNvPr>
          <p:cNvSpPr>
            <a:spLocks xmlns:a="http://schemas.openxmlformats.org/drawingml/2006/main" noGrp="1"/>
          </p:cNvSpPr>
          <p:nvPr/>
        </p:nvSpPr>
        <p:spPr>
          <a:xfrm xmlns:a="http://schemas.openxmlformats.org/drawingml/2006/main">
            <a:off x="2377440" y="3246120"/>
            <a:ext cx="1828800" cy="548640"/>
          </a:xfrm>
          <a:prstGeom xmlns:a="http://schemas.openxmlformats.org/drawingml/2006/main" prst="roundRect">
            <a:avLst>
              <a:gd name="adj" fmla="val 13333"/>
            </a:avLst>
          </a:prstGeom>
          <a:solidFill xmlns:a="http://schemas.openxmlformats.org/drawingml/2006/main">
            <a:srgbClr val="EEF2FF"/>
          </a:solidFill>
        </p:spPr>
      </p:sp>
      <p:sp>
        <p:nvSpPr>
          <p:cNvPr id="19" name="Text 16">
            <a:extLst xmlns:a="http://schemas.openxmlformats.org/drawingml/2006/main">
              <a:ext uri="{FF2B5EF4-FFF2-40B4-BE49-F238E27FC236}">
                <a16:creationId xmlns:a16="http://schemas.microsoft.com/office/drawing/2014/main" id="{6D96C77A-17A0-4ACF-BD7D-21B373A1B224}"/>
              </a:ext>
            </a:extLst>
          </p:cNvPr>
          <p:cNvSpPr>
            <a:spLocks xmlns:a="http://schemas.openxmlformats.org/drawingml/2006/main" noGrp="1"/>
          </p:cNvSpPr>
          <p:nvPr/>
        </p:nvSpPr>
        <p:spPr>
          <a:xfrm xmlns:a="http://schemas.openxmlformats.org/drawingml/2006/main">
            <a:off x="2468880" y="3246120"/>
            <a:ext cx="16459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3730A3"/>
                </a:solidFill>
                <a:latin typeface="Calibri"/>
                <a:ea typeface="Calibri"/>
                <a:cs typeface="Calibri"/>
              </a:rPr>
              <a:t>HR Executive</a:t>
            </a:r>
            <a:endParaRPr sz="1200"/>
          </a:p>
        </p:txBody>
      </p:sp>
      <p:sp>
        <p:nvSpPr>
          <p:cNvPr id="20" name="Text 17">
            <a:extLst xmlns:a="http://schemas.openxmlformats.org/drawingml/2006/main">
              <a:ext uri="{FF2B5EF4-FFF2-40B4-BE49-F238E27FC236}">
                <a16:creationId xmlns:a16="http://schemas.microsoft.com/office/drawing/2014/main" id="{92E292F9-8C1B-480A-A67D-1CE8EA90CE68}"/>
              </a:ext>
            </a:extLst>
          </p:cNvPr>
          <p:cNvSpPr>
            <a:spLocks xmlns:a="http://schemas.openxmlformats.org/drawingml/2006/main" noGrp="1"/>
          </p:cNvSpPr>
          <p:nvPr/>
        </p:nvSpPr>
        <p:spPr>
          <a:xfrm xmlns:a="http://schemas.openxmlformats.org/drawingml/2006/main">
            <a:off x="4846320" y="146304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730A3"/>
                </a:solidFill>
                <a:latin typeface="Calibri"/>
                <a:ea typeface="Calibri"/>
                <a:cs typeface="Calibri"/>
              </a:rPr>
              <a:t>Two modes</a:t>
            </a:r>
            <a:endParaRPr sz="1600"/>
          </a:p>
        </p:txBody>
      </p:sp>
      <p:sp>
        <p:nvSpPr>
          <p:cNvPr id="21" name="Shape 18">
            <a:extLst xmlns:a="http://schemas.openxmlformats.org/drawingml/2006/main">
              <a:ext uri="{FF2B5EF4-FFF2-40B4-BE49-F238E27FC236}">
                <a16:creationId xmlns:a16="http://schemas.microsoft.com/office/drawing/2014/main" id="{A9F4C1C5-FEB2-4710-8B4B-2F9271E3702D}"/>
              </a:ext>
            </a:extLst>
          </p:cNvPr>
          <p:cNvSpPr>
            <a:spLocks xmlns:a="http://schemas.openxmlformats.org/drawingml/2006/main" noGrp="1"/>
          </p:cNvSpPr>
          <p:nvPr/>
        </p:nvSpPr>
        <p:spPr>
          <a:xfrm xmlns:a="http://schemas.openxmlformats.org/drawingml/2006/main">
            <a:off x="4846320" y="1874520"/>
            <a:ext cx="3840480" cy="1005840"/>
          </a:xfrm>
          <a:prstGeom xmlns:a="http://schemas.openxmlformats.org/drawingml/2006/main" prst="roundRect">
            <a:avLst>
              <a:gd name="adj" fmla="val 7273"/>
            </a:avLst>
          </a:prstGeom>
          <a:solidFill xmlns:a="http://schemas.openxmlformats.org/drawingml/2006/main">
            <a:srgbClr val="F8FAFC"/>
          </a:solidFill>
          <a:ln xmlns:a="http://schemas.openxmlformats.org/drawingml/2006/main" w="12700">
            <a:solidFill>
              <a:srgbClr val="CBD5E1"/>
            </a:solidFill>
            <a:prstDash val="solid"/>
          </a:ln>
        </p:spPr>
      </p:sp>
      <p:sp>
        <p:nvSpPr>
          <p:cNvPr id="22" name="Text 19">
            <a:extLst xmlns:a="http://schemas.openxmlformats.org/drawingml/2006/main">
              <a:ext uri="{FF2B5EF4-FFF2-40B4-BE49-F238E27FC236}">
                <a16:creationId xmlns:a16="http://schemas.microsoft.com/office/drawing/2014/main" id="{1343FFE0-306F-4696-BEEC-3E8491523401}"/>
              </a:ext>
            </a:extLst>
          </p:cNvPr>
          <p:cNvSpPr>
            <a:spLocks xmlns:a="http://schemas.openxmlformats.org/drawingml/2006/main" noGrp="1"/>
          </p:cNvSpPr>
          <p:nvPr/>
        </p:nvSpPr>
        <p:spPr>
          <a:xfrm xmlns:a="http://schemas.openxmlformats.org/drawingml/2006/main">
            <a:off x="5029200" y="1965960"/>
            <a:ext cx="3566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72A"/>
                </a:solidFill>
                <a:latin typeface="Calibri"/>
                <a:ea typeface="Calibri"/>
                <a:cs typeface="Calibri"/>
              </a:rPr>
              <a:t>Practice Mode</a:t>
            </a:r>
            <a:endParaRPr sz="1400"/>
          </a:p>
          <a:p xmlns:a="http://schemas.openxmlformats.org/drawingml/2006/main">
            <a:pPr marL="0" indent="0">
              <a:buNone/>
            </a:pPr>
            <a:r>
              <a:rPr sz="1400">
                <a:solidFill>
                  <a:srgbClr val="0F172A"/>
                </a:solidFill>
                <a:latin typeface="Calibri"/>
                <a:ea typeface="Calibri"/>
                <a:cs typeface="Calibri"/>
              </a:rPr>
              <a:t>Feedback after every answer</a:t>
            </a:r>
            <a:endParaRPr sz="1400"/>
          </a:p>
        </p:txBody>
      </p:sp>
      <p:sp>
        <p:nvSpPr>
          <p:cNvPr id="23" name="Shape 20">
            <a:extLst xmlns:a="http://schemas.openxmlformats.org/drawingml/2006/main">
              <a:ext uri="{FF2B5EF4-FFF2-40B4-BE49-F238E27FC236}">
                <a16:creationId xmlns:a16="http://schemas.microsoft.com/office/drawing/2014/main" id="{1F43D3FB-4F41-4029-ACC8-4DD2699C63E4}"/>
              </a:ext>
            </a:extLst>
          </p:cNvPr>
          <p:cNvSpPr>
            <a:spLocks xmlns:a="http://schemas.openxmlformats.org/drawingml/2006/main" noGrp="1"/>
          </p:cNvSpPr>
          <p:nvPr/>
        </p:nvSpPr>
        <p:spPr>
          <a:xfrm xmlns:a="http://schemas.openxmlformats.org/drawingml/2006/main">
            <a:off x="4846320" y="3017520"/>
            <a:ext cx="3840480" cy="1005840"/>
          </a:xfrm>
          <a:prstGeom xmlns:a="http://schemas.openxmlformats.org/drawingml/2006/main" prst="roundRect">
            <a:avLst>
              <a:gd name="adj" fmla="val 7273"/>
            </a:avLst>
          </a:prstGeom>
          <a:solidFill xmlns:a="http://schemas.openxmlformats.org/drawingml/2006/main">
            <a:srgbClr val="F8FAFC"/>
          </a:solidFill>
          <a:ln xmlns:a="http://schemas.openxmlformats.org/drawingml/2006/main" w="12700">
            <a:solidFill>
              <a:srgbClr val="CBD5E1"/>
            </a:solidFill>
            <a:prstDash val="solid"/>
          </a:ln>
        </p:spPr>
      </p:sp>
      <p:sp>
        <p:nvSpPr>
          <p:cNvPr id="24" name="Text 21">
            <a:extLst xmlns:a="http://schemas.openxmlformats.org/drawingml/2006/main">
              <a:ext uri="{FF2B5EF4-FFF2-40B4-BE49-F238E27FC236}">
                <a16:creationId xmlns:a16="http://schemas.microsoft.com/office/drawing/2014/main" id="{66CAD394-FD78-4D82-8E04-D9B7430BD1EE}"/>
              </a:ext>
            </a:extLst>
          </p:cNvPr>
          <p:cNvSpPr>
            <a:spLocks xmlns:a="http://schemas.openxmlformats.org/drawingml/2006/main" noGrp="1"/>
          </p:cNvSpPr>
          <p:nvPr/>
        </p:nvSpPr>
        <p:spPr>
          <a:xfrm xmlns:a="http://schemas.openxmlformats.org/drawingml/2006/main">
            <a:off x="5029200" y="3108960"/>
            <a:ext cx="356616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0F172A"/>
                </a:solidFill>
                <a:latin typeface="Calibri"/>
                <a:ea typeface="Calibri"/>
                <a:cs typeface="Calibri"/>
              </a:rPr>
              <a:t>Full Mock Mode</a:t>
            </a:r>
            <a:endParaRPr sz="1400"/>
          </a:p>
          <a:p xmlns:a="http://schemas.openxmlformats.org/drawingml/2006/main">
            <a:pPr marL="0" indent="0">
              <a:buNone/>
            </a:pPr>
            <a:r>
              <a:rPr sz="1400">
                <a:solidFill>
                  <a:srgbClr val="0F172A"/>
                </a:solidFill>
                <a:latin typeface="Calibri"/>
                <a:ea typeface="Calibri"/>
                <a:cs typeface="Calibri"/>
              </a:rPr>
              <a:t>Feedback only at the end, like a real interview</a:t>
            </a:r>
            <a:endParaRPr sz="1400"/>
          </a:p>
        </p:txBody>
      </p:sp>
      <p:sp>
        <p:nvSpPr>
          <p:cNvPr id="25" name="Text 22">
            <a:extLst xmlns:a="http://schemas.openxmlformats.org/drawingml/2006/main">
              <a:ext uri="{FF2B5EF4-FFF2-40B4-BE49-F238E27FC236}">
                <a16:creationId xmlns:a16="http://schemas.microsoft.com/office/drawing/2014/main" id="{327FF4DC-6E14-4FC3-B7B0-222A1462A5BF}"/>
              </a:ext>
            </a:extLst>
          </p:cNvPr>
          <p:cNvSpPr>
            <a:spLocks xmlns:a="http://schemas.openxmlformats.org/drawingml/2006/main" noGrp="1"/>
          </p:cNvSpPr>
          <p:nvPr/>
        </p:nvSpPr>
        <p:spPr>
          <a:xfrm xmlns:a="http://schemas.openxmlformats.org/drawingml/2006/main">
            <a:off x="457200" y="4206240"/>
            <a:ext cx="8229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rgbClr val="475569"/>
                </a:solidFill>
                <a:latin typeface="Calibri"/>
                <a:ea typeface="Calibri"/>
                <a:cs typeface="Calibri"/>
              </a:rPr>
              <a:t>6–8 curated questions per session. Optional references tailor selected questions with your consent.</a:t>
            </a:r>
            <a:endParaRPr sz="1300"/>
          </a:p>
        </p:txBody>
      </p:sp>
    </p:spTree>
    <p:extLst>
      <p:ext uri="{BB962C8B-B14F-4D97-AF65-F5344CB8AC3E}">
        <p14:creationId xmlns:p14="http://schemas.microsoft.com/office/powerpoint/2010/main" val="130043772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954D579-F34D-494B-9EBA-9C7A524FC09B}"/>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E796CCC6-D845-43BF-8015-72A86DB71FCB}"/>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STEP 3</a:t>
            </a:r>
            <a:endParaRPr sz="1200"/>
          </a:p>
        </p:txBody>
      </p:sp>
      <p:sp>
        <p:nvSpPr>
          <p:cNvPr id="4" name="Text 2">
            <a:extLst xmlns:a="http://schemas.openxmlformats.org/drawingml/2006/main">
              <a:ext uri="{FF2B5EF4-FFF2-40B4-BE49-F238E27FC236}">
                <a16:creationId xmlns:a16="http://schemas.microsoft.com/office/drawing/2014/main" id="{96A0FF2A-A19B-4C5A-8F9F-C4C33B80C952}"/>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Transparent five-dimension evaluation</a:t>
            </a:r>
            <a:endParaRPr sz="2800"/>
          </a:p>
        </p:txBody>
      </p:sp>
      <p:sp>
        <p:nvSpPr>
          <p:cNvPr id="5" name="Text 3">
            <a:extLst xmlns:a="http://schemas.openxmlformats.org/drawingml/2006/main">
              <a:ext uri="{FF2B5EF4-FFF2-40B4-BE49-F238E27FC236}">
                <a16:creationId xmlns:a16="http://schemas.microsoft.com/office/drawing/2014/main" id="{66501F12-AAA2-40B4-B81D-2FD0C8671334}"/>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6</a:t>
            </a:r>
            <a:endParaRPr sz="1000"/>
          </a:p>
        </p:txBody>
      </p:sp>
      <p:sp>
        <p:nvSpPr>
          <p:cNvPr id="7" name="Text 4">
            <a:extLst xmlns:a="http://schemas.openxmlformats.org/drawingml/2006/main">
              <a:ext uri="{FF2B5EF4-FFF2-40B4-BE49-F238E27FC236}">
                <a16:creationId xmlns:a16="http://schemas.microsoft.com/office/drawing/2014/main" id="{DDF5BDE5-C903-4F98-B712-EE707E386690}"/>
              </a:ext>
            </a:extLst>
          </p:cNvPr>
          <p:cNvSpPr>
            <a:spLocks xmlns:a="http://schemas.openxmlformats.org/drawingml/2006/main" noGrp="1"/>
          </p:cNvSpPr>
          <p:nvPr/>
        </p:nvSpPr>
        <p:spPr>
          <a:xfrm xmlns:a="http://schemas.openxmlformats.org/drawingml/2006/main">
            <a:off x="457200" y="1417320"/>
            <a:ext cx="5029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i="1">
                <a:solidFill>
                  <a:srgbClr val="475569"/>
                </a:solidFill>
                <a:latin typeface="Calibri"/>
                <a:ea typeface="Calibri"/>
                <a:cs typeface="Calibri"/>
              </a:rPr>
              <a:t>Example answer scores (illustrative)</a:t>
            </a:r>
            <a:endParaRPr sz="1300"/>
          </a:p>
        </p:txBody>
      </p:sp>
      <p:sp>
        <p:nvSpPr>
          <p:cNvPr id="8" name="Text 5">
            <a:extLst xmlns:a="http://schemas.openxmlformats.org/drawingml/2006/main">
              <a:ext uri="{FF2B5EF4-FFF2-40B4-BE49-F238E27FC236}">
                <a16:creationId xmlns:a16="http://schemas.microsoft.com/office/drawing/2014/main" id="{B584CF1B-6790-4C72-8021-F194BB9F3090}"/>
              </a:ext>
            </a:extLst>
          </p:cNvPr>
          <p:cNvSpPr>
            <a:spLocks xmlns:a="http://schemas.openxmlformats.org/drawingml/2006/main" noGrp="1"/>
          </p:cNvSpPr>
          <p:nvPr/>
        </p:nvSpPr>
        <p:spPr>
          <a:xfrm xmlns:a="http://schemas.openxmlformats.org/drawingml/2006/main">
            <a:off x="457200" y="182880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0F172A"/>
                </a:solidFill>
                <a:latin typeface="Calibri"/>
                <a:ea typeface="Calibri"/>
                <a:cs typeface="Calibri"/>
              </a:rPr>
              <a:t>Clarity &amp; Structure</a:t>
            </a:r>
            <a:endParaRPr sz="1400"/>
          </a:p>
        </p:txBody>
      </p:sp>
      <p:sp>
        <p:nvSpPr>
          <p:cNvPr id="9" name="Shape 6">
            <a:extLst xmlns:a="http://schemas.openxmlformats.org/drawingml/2006/main">
              <a:ext uri="{FF2B5EF4-FFF2-40B4-BE49-F238E27FC236}">
                <a16:creationId xmlns:a16="http://schemas.microsoft.com/office/drawing/2014/main" id="{EB422125-E8D6-4A4D-BF81-37C313D3482A}"/>
              </a:ext>
            </a:extLst>
          </p:cNvPr>
          <p:cNvSpPr>
            <a:spLocks xmlns:a="http://schemas.openxmlformats.org/drawingml/2006/main" noGrp="1"/>
          </p:cNvSpPr>
          <p:nvPr/>
        </p:nvSpPr>
        <p:spPr>
          <a:xfrm xmlns:a="http://schemas.openxmlformats.org/drawingml/2006/main">
            <a:off x="2697480" y="1901952"/>
            <a:ext cx="2743200" cy="219456"/>
          </a:xfrm>
          <a:prstGeom xmlns:a="http://schemas.openxmlformats.org/drawingml/2006/main" prst="rect">
            <a:avLst>
              <a:gd name="adj" fmla="val 33333"/>
            </a:avLst>
          </a:prstGeom>
          <a:solidFill xmlns:a="http://schemas.openxmlformats.org/drawingml/2006/main">
            <a:srgbClr val="CBD5E1"/>
          </a:solidFill>
        </p:spPr>
      </p:sp>
      <p:sp>
        <p:nvSpPr>
          <p:cNvPr id="10" name="Shape 7">
            <a:extLst xmlns:a="http://schemas.openxmlformats.org/drawingml/2006/main">
              <a:ext uri="{FF2B5EF4-FFF2-40B4-BE49-F238E27FC236}">
                <a16:creationId xmlns:a16="http://schemas.microsoft.com/office/drawing/2014/main" id="{A4BD440A-95AB-433A-A239-C00808C305A1}"/>
              </a:ext>
            </a:extLst>
          </p:cNvPr>
          <p:cNvSpPr>
            <a:spLocks xmlns:a="http://schemas.openxmlformats.org/drawingml/2006/main" noGrp="1"/>
          </p:cNvSpPr>
          <p:nvPr/>
        </p:nvSpPr>
        <p:spPr>
          <a:xfrm xmlns:a="http://schemas.openxmlformats.org/drawingml/2006/main">
            <a:off x="2697480" y="1901952"/>
            <a:ext cx="1920240" cy="219456"/>
          </a:xfrm>
          <a:prstGeom xmlns:a="http://schemas.openxmlformats.org/drawingml/2006/main" prst="rect">
            <a:avLst>
              <a:gd name="adj" fmla="val 33333"/>
            </a:avLst>
          </a:prstGeom>
          <a:solidFill xmlns:a="http://schemas.openxmlformats.org/drawingml/2006/main">
            <a:srgbClr val="3730A3"/>
          </a:solidFill>
        </p:spPr>
      </p:sp>
      <p:sp>
        <p:nvSpPr>
          <p:cNvPr id="11" name="Text 8">
            <a:extLst xmlns:a="http://schemas.openxmlformats.org/drawingml/2006/main">
              <a:ext uri="{FF2B5EF4-FFF2-40B4-BE49-F238E27FC236}">
                <a16:creationId xmlns:a16="http://schemas.microsoft.com/office/drawing/2014/main" id="{03140CDA-0F21-439A-AF35-9E5CB24AF076}"/>
              </a:ext>
            </a:extLst>
          </p:cNvPr>
          <p:cNvSpPr>
            <a:spLocks xmlns:a="http://schemas.openxmlformats.org/drawingml/2006/main" noGrp="1"/>
          </p:cNvSpPr>
          <p:nvPr/>
        </p:nvSpPr>
        <p:spPr>
          <a:xfrm xmlns:a="http://schemas.openxmlformats.org/drawingml/2006/main">
            <a:off x="5532120" y="1828800"/>
            <a:ext cx="640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3730A3"/>
                </a:solidFill>
                <a:latin typeface="Calibri"/>
                <a:ea typeface="Calibri"/>
                <a:cs typeface="Calibri"/>
              </a:rPr>
              <a:t>7/10</a:t>
            </a:r>
            <a:endParaRPr sz="1400"/>
          </a:p>
        </p:txBody>
      </p:sp>
      <p:sp>
        <p:nvSpPr>
          <p:cNvPr id="12" name="Text 9">
            <a:extLst xmlns:a="http://schemas.openxmlformats.org/drawingml/2006/main">
              <a:ext uri="{FF2B5EF4-FFF2-40B4-BE49-F238E27FC236}">
                <a16:creationId xmlns:a16="http://schemas.microsoft.com/office/drawing/2014/main" id="{AF622945-EF47-45B6-BAA5-DFCED3F85AE4}"/>
              </a:ext>
            </a:extLst>
          </p:cNvPr>
          <p:cNvSpPr>
            <a:spLocks xmlns:a="http://schemas.openxmlformats.org/drawingml/2006/main" noGrp="1"/>
          </p:cNvSpPr>
          <p:nvPr/>
        </p:nvSpPr>
        <p:spPr>
          <a:xfrm xmlns:a="http://schemas.openxmlformats.org/drawingml/2006/main">
            <a:off x="457200" y="237744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0F172A"/>
                </a:solidFill>
                <a:latin typeface="Calibri"/>
                <a:ea typeface="Calibri"/>
                <a:cs typeface="Calibri"/>
              </a:rPr>
              <a:t>Relevance to Role</a:t>
            </a:r>
            <a:endParaRPr sz="1400"/>
          </a:p>
        </p:txBody>
      </p:sp>
      <p:sp>
        <p:nvSpPr>
          <p:cNvPr id="13" name="Shape 10">
            <a:extLst xmlns:a="http://schemas.openxmlformats.org/drawingml/2006/main">
              <a:ext uri="{FF2B5EF4-FFF2-40B4-BE49-F238E27FC236}">
                <a16:creationId xmlns:a16="http://schemas.microsoft.com/office/drawing/2014/main" id="{31CBC6E3-A2C3-43C9-A2A5-ED445F028869}"/>
              </a:ext>
            </a:extLst>
          </p:cNvPr>
          <p:cNvSpPr>
            <a:spLocks xmlns:a="http://schemas.openxmlformats.org/drawingml/2006/main" noGrp="1"/>
          </p:cNvSpPr>
          <p:nvPr/>
        </p:nvSpPr>
        <p:spPr>
          <a:xfrm xmlns:a="http://schemas.openxmlformats.org/drawingml/2006/main">
            <a:off x="2697480" y="2450592"/>
            <a:ext cx="2743200" cy="219456"/>
          </a:xfrm>
          <a:prstGeom xmlns:a="http://schemas.openxmlformats.org/drawingml/2006/main" prst="rect">
            <a:avLst>
              <a:gd name="adj" fmla="val 33333"/>
            </a:avLst>
          </a:prstGeom>
          <a:solidFill xmlns:a="http://schemas.openxmlformats.org/drawingml/2006/main">
            <a:srgbClr val="CBD5E1"/>
          </a:solidFill>
        </p:spPr>
      </p:sp>
      <p:sp>
        <p:nvSpPr>
          <p:cNvPr id="14" name="Shape 11">
            <a:extLst xmlns:a="http://schemas.openxmlformats.org/drawingml/2006/main">
              <a:ext uri="{FF2B5EF4-FFF2-40B4-BE49-F238E27FC236}">
                <a16:creationId xmlns:a16="http://schemas.microsoft.com/office/drawing/2014/main" id="{CCDF0B72-A70A-4EBA-B9B4-1C5F656AC893}"/>
              </a:ext>
            </a:extLst>
          </p:cNvPr>
          <p:cNvSpPr>
            <a:spLocks xmlns:a="http://schemas.openxmlformats.org/drawingml/2006/main" noGrp="1"/>
          </p:cNvSpPr>
          <p:nvPr/>
        </p:nvSpPr>
        <p:spPr>
          <a:xfrm xmlns:a="http://schemas.openxmlformats.org/drawingml/2006/main">
            <a:off x="2697480" y="2450592"/>
            <a:ext cx="2194560" cy="219456"/>
          </a:xfrm>
          <a:prstGeom xmlns:a="http://schemas.openxmlformats.org/drawingml/2006/main" prst="rect">
            <a:avLst>
              <a:gd name="adj" fmla="val 33333"/>
            </a:avLst>
          </a:prstGeom>
          <a:solidFill xmlns:a="http://schemas.openxmlformats.org/drawingml/2006/main">
            <a:srgbClr val="3730A3"/>
          </a:solidFill>
        </p:spPr>
      </p:sp>
      <p:sp>
        <p:nvSpPr>
          <p:cNvPr id="15" name="Text 12">
            <a:extLst xmlns:a="http://schemas.openxmlformats.org/drawingml/2006/main">
              <a:ext uri="{FF2B5EF4-FFF2-40B4-BE49-F238E27FC236}">
                <a16:creationId xmlns:a16="http://schemas.microsoft.com/office/drawing/2014/main" id="{58E2C2D2-CAAF-4683-B318-392DEBE09DD4}"/>
              </a:ext>
            </a:extLst>
          </p:cNvPr>
          <p:cNvSpPr>
            <a:spLocks xmlns:a="http://schemas.openxmlformats.org/drawingml/2006/main" noGrp="1"/>
          </p:cNvSpPr>
          <p:nvPr/>
        </p:nvSpPr>
        <p:spPr>
          <a:xfrm xmlns:a="http://schemas.openxmlformats.org/drawingml/2006/main">
            <a:off x="5532120" y="2377440"/>
            <a:ext cx="640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3730A3"/>
                </a:solidFill>
                <a:latin typeface="Calibri"/>
                <a:ea typeface="Calibri"/>
                <a:cs typeface="Calibri"/>
              </a:rPr>
              <a:t>8/10</a:t>
            </a:r>
            <a:endParaRPr sz="1400"/>
          </a:p>
        </p:txBody>
      </p:sp>
      <p:sp>
        <p:nvSpPr>
          <p:cNvPr id="16" name="Text 13">
            <a:extLst xmlns:a="http://schemas.openxmlformats.org/drawingml/2006/main">
              <a:ext uri="{FF2B5EF4-FFF2-40B4-BE49-F238E27FC236}">
                <a16:creationId xmlns:a16="http://schemas.microsoft.com/office/drawing/2014/main" id="{7874D2AD-0C72-455E-8E9E-850886334CBB}"/>
              </a:ext>
            </a:extLst>
          </p:cNvPr>
          <p:cNvSpPr>
            <a:spLocks xmlns:a="http://schemas.openxmlformats.org/drawingml/2006/main" noGrp="1"/>
          </p:cNvSpPr>
          <p:nvPr/>
        </p:nvSpPr>
        <p:spPr>
          <a:xfrm xmlns:a="http://schemas.openxmlformats.org/drawingml/2006/main">
            <a:off x="457200" y="292608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0F172A"/>
                </a:solidFill>
                <a:latin typeface="Calibri"/>
                <a:ea typeface="Calibri"/>
                <a:cs typeface="Calibri"/>
              </a:rPr>
              <a:t>Domain Knowledge</a:t>
            </a:r>
            <a:endParaRPr sz="1400"/>
          </a:p>
        </p:txBody>
      </p:sp>
      <p:sp>
        <p:nvSpPr>
          <p:cNvPr id="17" name="Shape 14">
            <a:extLst xmlns:a="http://schemas.openxmlformats.org/drawingml/2006/main">
              <a:ext uri="{FF2B5EF4-FFF2-40B4-BE49-F238E27FC236}">
                <a16:creationId xmlns:a16="http://schemas.microsoft.com/office/drawing/2014/main" id="{06BE1002-5C68-4606-8AA2-17E5C65E110D}"/>
              </a:ext>
            </a:extLst>
          </p:cNvPr>
          <p:cNvSpPr>
            <a:spLocks xmlns:a="http://schemas.openxmlformats.org/drawingml/2006/main" noGrp="1"/>
          </p:cNvSpPr>
          <p:nvPr/>
        </p:nvSpPr>
        <p:spPr>
          <a:xfrm xmlns:a="http://schemas.openxmlformats.org/drawingml/2006/main">
            <a:off x="2697480" y="2999232"/>
            <a:ext cx="2743200" cy="219456"/>
          </a:xfrm>
          <a:prstGeom xmlns:a="http://schemas.openxmlformats.org/drawingml/2006/main" prst="rect">
            <a:avLst>
              <a:gd name="adj" fmla="val 33333"/>
            </a:avLst>
          </a:prstGeom>
          <a:solidFill xmlns:a="http://schemas.openxmlformats.org/drawingml/2006/main">
            <a:srgbClr val="CBD5E1"/>
          </a:solidFill>
        </p:spPr>
      </p:sp>
      <p:sp>
        <p:nvSpPr>
          <p:cNvPr id="18" name="Shape 15">
            <a:extLst xmlns:a="http://schemas.openxmlformats.org/drawingml/2006/main">
              <a:ext uri="{FF2B5EF4-FFF2-40B4-BE49-F238E27FC236}">
                <a16:creationId xmlns:a16="http://schemas.microsoft.com/office/drawing/2014/main" id="{9A98C8F0-71C3-453F-9CE5-4092B1FF4D80}"/>
              </a:ext>
            </a:extLst>
          </p:cNvPr>
          <p:cNvSpPr>
            <a:spLocks xmlns:a="http://schemas.openxmlformats.org/drawingml/2006/main" noGrp="1"/>
          </p:cNvSpPr>
          <p:nvPr/>
        </p:nvSpPr>
        <p:spPr>
          <a:xfrm xmlns:a="http://schemas.openxmlformats.org/drawingml/2006/main">
            <a:off x="2697480" y="2999232"/>
            <a:ext cx="1645920" cy="219456"/>
          </a:xfrm>
          <a:prstGeom xmlns:a="http://schemas.openxmlformats.org/drawingml/2006/main" prst="rect">
            <a:avLst>
              <a:gd name="adj" fmla="val 33333"/>
            </a:avLst>
          </a:prstGeom>
          <a:solidFill xmlns:a="http://schemas.openxmlformats.org/drawingml/2006/main">
            <a:srgbClr val="3730A3"/>
          </a:solidFill>
        </p:spPr>
      </p:sp>
      <p:sp>
        <p:nvSpPr>
          <p:cNvPr id="19" name="Text 16">
            <a:extLst xmlns:a="http://schemas.openxmlformats.org/drawingml/2006/main">
              <a:ext uri="{FF2B5EF4-FFF2-40B4-BE49-F238E27FC236}">
                <a16:creationId xmlns:a16="http://schemas.microsoft.com/office/drawing/2014/main" id="{C6E8158B-CBDE-46FC-B91E-8606702D7F01}"/>
              </a:ext>
            </a:extLst>
          </p:cNvPr>
          <p:cNvSpPr>
            <a:spLocks xmlns:a="http://schemas.openxmlformats.org/drawingml/2006/main" noGrp="1"/>
          </p:cNvSpPr>
          <p:nvPr/>
        </p:nvSpPr>
        <p:spPr>
          <a:xfrm xmlns:a="http://schemas.openxmlformats.org/drawingml/2006/main">
            <a:off x="5532120" y="2926080"/>
            <a:ext cx="640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3730A3"/>
                </a:solidFill>
                <a:latin typeface="Calibri"/>
                <a:ea typeface="Calibri"/>
                <a:cs typeface="Calibri"/>
              </a:rPr>
              <a:t>6/10</a:t>
            </a:r>
            <a:endParaRPr sz="1400"/>
          </a:p>
        </p:txBody>
      </p:sp>
      <p:sp>
        <p:nvSpPr>
          <p:cNvPr id="20" name="Text 17">
            <a:extLst xmlns:a="http://schemas.openxmlformats.org/drawingml/2006/main">
              <a:ext uri="{FF2B5EF4-FFF2-40B4-BE49-F238E27FC236}">
                <a16:creationId xmlns:a16="http://schemas.microsoft.com/office/drawing/2014/main" id="{CC945F78-A333-41F9-8A8D-7F2E45824B01}"/>
              </a:ext>
            </a:extLst>
          </p:cNvPr>
          <p:cNvSpPr>
            <a:spLocks xmlns:a="http://schemas.openxmlformats.org/drawingml/2006/main" noGrp="1"/>
          </p:cNvSpPr>
          <p:nvPr/>
        </p:nvSpPr>
        <p:spPr>
          <a:xfrm xmlns:a="http://schemas.openxmlformats.org/drawingml/2006/main">
            <a:off x="457200" y="347472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0F172A"/>
                </a:solidFill>
                <a:latin typeface="Calibri"/>
                <a:ea typeface="Calibri"/>
                <a:cs typeface="Calibri"/>
              </a:rPr>
              <a:t>Communication</a:t>
            </a:r>
            <a:endParaRPr sz="1400"/>
          </a:p>
        </p:txBody>
      </p:sp>
      <p:sp>
        <p:nvSpPr>
          <p:cNvPr id="21" name="Shape 18">
            <a:extLst xmlns:a="http://schemas.openxmlformats.org/drawingml/2006/main">
              <a:ext uri="{FF2B5EF4-FFF2-40B4-BE49-F238E27FC236}">
                <a16:creationId xmlns:a16="http://schemas.microsoft.com/office/drawing/2014/main" id="{0EC4D238-59D1-4E4C-9C76-A09700BAA2DC}"/>
              </a:ext>
            </a:extLst>
          </p:cNvPr>
          <p:cNvSpPr>
            <a:spLocks xmlns:a="http://schemas.openxmlformats.org/drawingml/2006/main" noGrp="1"/>
          </p:cNvSpPr>
          <p:nvPr/>
        </p:nvSpPr>
        <p:spPr>
          <a:xfrm xmlns:a="http://schemas.openxmlformats.org/drawingml/2006/main">
            <a:off x="2697480" y="3547872"/>
            <a:ext cx="2743200" cy="219456"/>
          </a:xfrm>
          <a:prstGeom xmlns:a="http://schemas.openxmlformats.org/drawingml/2006/main" prst="rect">
            <a:avLst>
              <a:gd name="adj" fmla="val 33333"/>
            </a:avLst>
          </a:prstGeom>
          <a:solidFill xmlns:a="http://schemas.openxmlformats.org/drawingml/2006/main">
            <a:srgbClr val="CBD5E1"/>
          </a:solidFill>
        </p:spPr>
      </p:sp>
      <p:sp>
        <p:nvSpPr>
          <p:cNvPr id="22" name="Shape 19">
            <a:extLst xmlns:a="http://schemas.openxmlformats.org/drawingml/2006/main">
              <a:ext uri="{FF2B5EF4-FFF2-40B4-BE49-F238E27FC236}">
                <a16:creationId xmlns:a16="http://schemas.microsoft.com/office/drawing/2014/main" id="{89F6DBAF-2E15-4BE3-97F9-1848D724112D}"/>
              </a:ext>
            </a:extLst>
          </p:cNvPr>
          <p:cNvSpPr>
            <a:spLocks xmlns:a="http://schemas.openxmlformats.org/drawingml/2006/main" noGrp="1"/>
          </p:cNvSpPr>
          <p:nvPr/>
        </p:nvSpPr>
        <p:spPr>
          <a:xfrm xmlns:a="http://schemas.openxmlformats.org/drawingml/2006/main">
            <a:off x="2697480" y="3547872"/>
            <a:ext cx="1920240" cy="219456"/>
          </a:xfrm>
          <a:prstGeom xmlns:a="http://schemas.openxmlformats.org/drawingml/2006/main" prst="rect">
            <a:avLst>
              <a:gd name="adj" fmla="val 33333"/>
            </a:avLst>
          </a:prstGeom>
          <a:solidFill xmlns:a="http://schemas.openxmlformats.org/drawingml/2006/main">
            <a:srgbClr val="3730A3"/>
          </a:solidFill>
        </p:spPr>
      </p:sp>
      <p:sp>
        <p:nvSpPr>
          <p:cNvPr id="23" name="Text 20">
            <a:extLst xmlns:a="http://schemas.openxmlformats.org/drawingml/2006/main">
              <a:ext uri="{FF2B5EF4-FFF2-40B4-BE49-F238E27FC236}">
                <a16:creationId xmlns:a16="http://schemas.microsoft.com/office/drawing/2014/main" id="{BE9D8952-A37B-461D-8E2C-CCFAC2B4E262}"/>
              </a:ext>
            </a:extLst>
          </p:cNvPr>
          <p:cNvSpPr>
            <a:spLocks xmlns:a="http://schemas.openxmlformats.org/drawingml/2006/main" noGrp="1"/>
          </p:cNvSpPr>
          <p:nvPr/>
        </p:nvSpPr>
        <p:spPr>
          <a:xfrm xmlns:a="http://schemas.openxmlformats.org/drawingml/2006/main">
            <a:off x="5532120" y="3474720"/>
            <a:ext cx="640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3730A3"/>
                </a:solidFill>
                <a:latin typeface="Calibri"/>
                <a:ea typeface="Calibri"/>
                <a:cs typeface="Calibri"/>
              </a:rPr>
              <a:t>7/10</a:t>
            </a:r>
            <a:endParaRPr sz="1400"/>
          </a:p>
        </p:txBody>
      </p:sp>
      <p:sp>
        <p:nvSpPr>
          <p:cNvPr id="24" name="Text 21">
            <a:extLst xmlns:a="http://schemas.openxmlformats.org/drawingml/2006/main">
              <a:ext uri="{FF2B5EF4-FFF2-40B4-BE49-F238E27FC236}">
                <a16:creationId xmlns:a16="http://schemas.microsoft.com/office/drawing/2014/main" id="{9069C630-724D-47E1-ACA5-54F842727FD6}"/>
              </a:ext>
            </a:extLst>
          </p:cNvPr>
          <p:cNvSpPr>
            <a:spLocks xmlns:a="http://schemas.openxmlformats.org/drawingml/2006/main" noGrp="1"/>
          </p:cNvSpPr>
          <p:nvPr/>
        </p:nvSpPr>
        <p:spPr>
          <a:xfrm xmlns:a="http://schemas.openxmlformats.org/drawingml/2006/main">
            <a:off x="457200" y="4023360"/>
            <a:ext cx="2194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0F172A"/>
                </a:solidFill>
                <a:latin typeface="Calibri"/>
                <a:ea typeface="Calibri"/>
                <a:cs typeface="Calibri"/>
              </a:rPr>
              <a:t>STAR Method</a:t>
            </a:r>
            <a:endParaRPr sz="1400"/>
          </a:p>
        </p:txBody>
      </p:sp>
      <p:sp>
        <p:nvSpPr>
          <p:cNvPr id="25" name="Shape 22">
            <a:extLst xmlns:a="http://schemas.openxmlformats.org/drawingml/2006/main">
              <a:ext uri="{FF2B5EF4-FFF2-40B4-BE49-F238E27FC236}">
                <a16:creationId xmlns:a16="http://schemas.microsoft.com/office/drawing/2014/main" id="{6D815EE2-DF98-4E60-9882-799E50798F57}"/>
              </a:ext>
            </a:extLst>
          </p:cNvPr>
          <p:cNvSpPr>
            <a:spLocks xmlns:a="http://schemas.openxmlformats.org/drawingml/2006/main" noGrp="1"/>
          </p:cNvSpPr>
          <p:nvPr/>
        </p:nvSpPr>
        <p:spPr>
          <a:xfrm xmlns:a="http://schemas.openxmlformats.org/drawingml/2006/main">
            <a:off x="2697480" y="4096512"/>
            <a:ext cx="2743200" cy="219456"/>
          </a:xfrm>
          <a:prstGeom xmlns:a="http://schemas.openxmlformats.org/drawingml/2006/main" prst="rect">
            <a:avLst>
              <a:gd name="adj" fmla="val 33333"/>
            </a:avLst>
          </a:prstGeom>
          <a:solidFill xmlns:a="http://schemas.openxmlformats.org/drawingml/2006/main">
            <a:srgbClr val="CBD5E1"/>
          </a:solidFill>
        </p:spPr>
      </p:sp>
      <p:sp>
        <p:nvSpPr>
          <p:cNvPr id="26" name="Shape 23">
            <a:extLst xmlns:a="http://schemas.openxmlformats.org/drawingml/2006/main">
              <a:ext uri="{FF2B5EF4-FFF2-40B4-BE49-F238E27FC236}">
                <a16:creationId xmlns:a16="http://schemas.microsoft.com/office/drawing/2014/main" id="{7D31BC2E-57D9-485E-84C8-C7A6B27E2427}"/>
              </a:ext>
            </a:extLst>
          </p:cNvPr>
          <p:cNvSpPr>
            <a:spLocks xmlns:a="http://schemas.openxmlformats.org/drawingml/2006/main" noGrp="1"/>
          </p:cNvSpPr>
          <p:nvPr/>
        </p:nvSpPr>
        <p:spPr>
          <a:xfrm xmlns:a="http://schemas.openxmlformats.org/drawingml/2006/main">
            <a:off x="2697480" y="4096512"/>
            <a:ext cx="1371600" cy="219456"/>
          </a:xfrm>
          <a:prstGeom xmlns:a="http://schemas.openxmlformats.org/drawingml/2006/main" prst="rect">
            <a:avLst>
              <a:gd name="adj" fmla="val 33333"/>
            </a:avLst>
          </a:prstGeom>
          <a:solidFill xmlns:a="http://schemas.openxmlformats.org/drawingml/2006/main">
            <a:srgbClr val="3730A3"/>
          </a:solidFill>
        </p:spPr>
      </p:sp>
      <p:sp>
        <p:nvSpPr>
          <p:cNvPr id="27" name="Text 24">
            <a:extLst xmlns:a="http://schemas.openxmlformats.org/drawingml/2006/main">
              <a:ext uri="{FF2B5EF4-FFF2-40B4-BE49-F238E27FC236}">
                <a16:creationId xmlns:a16="http://schemas.microsoft.com/office/drawing/2014/main" id="{ECC4EC33-3203-44C9-8951-21A9CBB7BE71}"/>
              </a:ext>
            </a:extLst>
          </p:cNvPr>
          <p:cNvSpPr>
            <a:spLocks xmlns:a="http://schemas.openxmlformats.org/drawingml/2006/main" noGrp="1"/>
          </p:cNvSpPr>
          <p:nvPr/>
        </p:nvSpPr>
        <p:spPr>
          <a:xfrm xmlns:a="http://schemas.openxmlformats.org/drawingml/2006/main">
            <a:off x="5532120" y="4023360"/>
            <a:ext cx="640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3730A3"/>
                </a:solidFill>
                <a:latin typeface="Calibri"/>
                <a:ea typeface="Calibri"/>
                <a:cs typeface="Calibri"/>
              </a:rPr>
              <a:t>5/10</a:t>
            </a:r>
            <a:endParaRPr sz="1400"/>
          </a:p>
        </p:txBody>
      </p:sp>
      <p:sp>
        <p:nvSpPr>
          <p:cNvPr id="28" name="Text 25">
            <a:extLst xmlns:a="http://schemas.openxmlformats.org/drawingml/2006/main">
              <a:ext uri="{FF2B5EF4-FFF2-40B4-BE49-F238E27FC236}">
                <a16:creationId xmlns:a16="http://schemas.microsoft.com/office/drawing/2014/main" id="{2034AE1A-2A30-479C-A6B4-F597044A6B11}"/>
              </a:ext>
            </a:extLst>
          </p:cNvPr>
          <p:cNvSpPr>
            <a:spLocks xmlns:a="http://schemas.openxmlformats.org/drawingml/2006/main" noGrp="1"/>
          </p:cNvSpPr>
          <p:nvPr/>
        </p:nvSpPr>
        <p:spPr>
          <a:xfrm xmlns:a="http://schemas.openxmlformats.org/drawingml/2006/main">
            <a:off x="6309360" y="1417320"/>
            <a:ext cx="23774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3730A3"/>
                </a:solidFill>
                <a:latin typeface="Calibri"/>
                <a:ea typeface="Calibri"/>
                <a:cs typeface="Calibri"/>
              </a:rPr>
              <a:t>Readiness gauge</a:t>
            </a:r>
            <a:endParaRPr sz="1400"/>
          </a:p>
        </p:txBody>
      </p:sp>
      <p:sp>
        <p:nvSpPr>
          <p:cNvPr id="29" name="Shape 26">
            <a:extLst xmlns:a="http://schemas.openxmlformats.org/drawingml/2006/main">
              <a:ext uri="{FF2B5EF4-FFF2-40B4-BE49-F238E27FC236}">
                <a16:creationId xmlns:a16="http://schemas.microsoft.com/office/drawing/2014/main" id="{08CE89B8-373F-412F-BE81-073F37872301}"/>
              </a:ext>
            </a:extLst>
          </p:cNvPr>
          <p:cNvSpPr>
            <a:spLocks xmlns:a="http://schemas.openxmlformats.org/drawingml/2006/main" noGrp="1"/>
          </p:cNvSpPr>
          <p:nvPr/>
        </p:nvSpPr>
        <p:spPr>
          <a:xfrm xmlns:a="http://schemas.openxmlformats.org/drawingml/2006/main">
            <a:off x="6309360" y="1828800"/>
            <a:ext cx="2377440" cy="685800"/>
          </a:xfrm>
          <a:prstGeom xmlns:a="http://schemas.openxmlformats.org/drawingml/2006/main" prst="roundRect">
            <a:avLst>
              <a:gd name="adj" fmla="val 10667"/>
            </a:avLst>
          </a:prstGeom>
          <a:solidFill xmlns:a="http://schemas.openxmlformats.org/drawingml/2006/main">
            <a:srgbClr val="059669"/>
          </a:solidFill>
        </p:spPr>
      </p:sp>
      <p:sp>
        <p:nvSpPr>
          <p:cNvPr id="30" name="Text 27">
            <a:extLst xmlns:a="http://schemas.openxmlformats.org/drawingml/2006/main">
              <a:ext uri="{FF2B5EF4-FFF2-40B4-BE49-F238E27FC236}">
                <a16:creationId xmlns:a16="http://schemas.microsoft.com/office/drawing/2014/main" id="{25335CBE-48AE-4E67-9CF1-73659E5A7543}"/>
              </a:ext>
            </a:extLst>
          </p:cNvPr>
          <p:cNvSpPr>
            <a:spLocks xmlns:a="http://schemas.openxmlformats.org/drawingml/2006/main" noGrp="1"/>
          </p:cNvSpPr>
          <p:nvPr/>
        </p:nvSpPr>
        <p:spPr>
          <a:xfrm xmlns:a="http://schemas.openxmlformats.org/drawingml/2006/main">
            <a:off x="6446520" y="1828800"/>
            <a:ext cx="2148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Interview Ready</a:t>
            </a:r>
            <a:endParaRPr sz="1300"/>
          </a:p>
          <a:p xmlns:a="http://schemas.openxmlformats.org/drawingml/2006/main">
            <a:pPr marL="0" indent="0">
              <a:buNone/>
            </a:pPr>
            <a:r>
              <a:rPr sz="1300">
                <a:solidFill>
                  <a:srgbClr val="FFFFFF"/>
                </a:solidFill>
                <a:latin typeface="Calibri"/>
                <a:ea typeface="Calibri"/>
                <a:cs typeface="Calibri"/>
              </a:rPr>
              <a:t>7.5 and above</a:t>
            </a:r>
            <a:endParaRPr sz="1300"/>
          </a:p>
        </p:txBody>
      </p:sp>
      <p:sp>
        <p:nvSpPr>
          <p:cNvPr id="31" name="Shape 28">
            <a:extLst xmlns:a="http://schemas.openxmlformats.org/drawingml/2006/main">
              <a:ext uri="{FF2B5EF4-FFF2-40B4-BE49-F238E27FC236}">
                <a16:creationId xmlns:a16="http://schemas.microsoft.com/office/drawing/2014/main" id="{A73854D5-97E7-49CC-8478-77F8BC1402D8}"/>
              </a:ext>
            </a:extLst>
          </p:cNvPr>
          <p:cNvSpPr>
            <a:spLocks xmlns:a="http://schemas.openxmlformats.org/drawingml/2006/main" noGrp="1"/>
          </p:cNvSpPr>
          <p:nvPr/>
        </p:nvSpPr>
        <p:spPr>
          <a:xfrm xmlns:a="http://schemas.openxmlformats.org/drawingml/2006/main">
            <a:off x="6309360" y="2651760"/>
            <a:ext cx="2377440" cy="685800"/>
          </a:xfrm>
          <a:prstGeom xmlns:a="http://schemas.openxmlformats.org/drawingml/2006/main" prst="roundRect">
            <a:avLst>
              <a:gd name="adj" fmla="val 10667"/>
            </a:avLst>
          </a:prstGeom>
          <a:solidFill xmlns:a="http://schemas.openxmlformats.org/drawingml/2006/main">
            <a:srgbClr val="D97706"/>
          </a:solidFill>
        </p:spPr>
      </p:sp>
      <p:sp>
        <p:nvSpPr>
          <p:cNvPr id="32" name="Text 29">
            <a:extLst xmlns:a="http://schemas.openxmlformats.org/drawingml/2006/main">
              <a:ext uri="{FF2B5EF4-FFF2-40B4-BE49-F238E27FC236}">
                <a16:creationId xmlns:a16="http://schemas.microsoft.com/office/drawing/2014/main" id="{5F670EE1-EB3E-4036-9634-376BC7B509B1}"/>
              </a:ext>
            </a:extLst>
          </p:cNvPr>
          <p:cNvSpPr>
            <a:spLocks xmlns:a="http://schemas.openxmlformats.org/drawingml/2006/main" noGrp="1"/>
          </p:cNvSpPr>
          <p:nvPr/>
        </p:nvSpPr>
        <p:spPr>
          <a:xfrm xmlns:a="http://schemas.openxmlformats.org/drawingml/2006/main">
            <a:off x="6446520" y="2651760"/>
            <a:ext cx="2148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Good</a:t>
            </a:r>
            <a:endParaRPr sz="1300"/>
          </a:p>
          <a:p xmlns:a="http://schemas.openxmlformats.org/drawingml/2006/main">
            <a:pPr marL="0" indent="0">
              <a:buNone/>
            </a:pPr>
            <a:r>
              <a:rPr sz="1300">
                <a:solidFill>
                  <a:srgbClr val="FFFFFF"/>
                </a:solidFill>
                <a:latin typeface="Calibri"/>
                <a:ea typeface="Calibri"/>
                <a:cs typeface="Calibri"/>
              </a:rPr>
              <a:t>5.0 to 7.4</a:t>
            </a:r>
            <a:endParaRPr sz="1300"/>
          </a:p>
        </p:txBody>
      </p:sp>
      <p:sp>
        <p:nvSpPr>
          <p:cNvPr id="33" name="Shape 30">
            <a:extLst xmlns:a="http://schemas.openxmlformats.org/drawingml/2006/main">
              <a:ext uri="{FF2B5EF4-FFF2-40B4-BE49-F238E27FC236}">
                <a16:creationId xmlns:a16="http://schemas.microsoft.com/office/drawing/2014/main" id="{0A1EF5D7-F437-40B4-991D-21120074150B}"/>
              </a:ext>
            </a:extLst>
          </p:cNvPr>
          <p:cNvSpPr>
            <a:spLocks xmlns:a="http://schemas.openxmlformats.org/drawingml/2006/main" noGrp="1"/>
          </p:cNvSpPr>
          <p:nvPr/>
        </p:nvSpPr>
        <p:spPr>
          <a:xfrm xmlns:a="http://schemas.openxmlformats.org/drawingml/2006/main">
            <a:off x="6309360" y="3474720"/>
            <a:ext cx="2377440" cy="685800"/>
          </a:xfrm>
          <a:prstGeom xmlns:a="http://schemas.openxmlformats.org/drawingml/2006/main" prst="roundRect">
            <a:avLst>
              <a:gd name="adj" fmla="val 10667"/>
            </a:avLst>
          </a:prstGeom>
          <a:solidFill xmlns:a="http://schemas.openxmlformats.org/drawingml/2006/main">
            <a:srgbClr val="DC2626"/>
          </a:solidFill>
        </p:spPr>
      </p:sp>
      <p:sp>
        <p:nvSpPr>
          <p:cNvPr id="34" name="Text 31">
            <a:extLst xmlns:a="http://schemas.openxmlformats.org/drawingml/2006/main">
              <a:ext uri="{FF2B5EF4-FFF2-40B4-BE49-F238E27FC236}">
                <a16:creationId xmlns:a16="http://schemas.microsoft.com/office/drawing/2014/main" id="{4D8E9F17-49E3-4E73-967D-3139BF1E48C2}"/>
              </a:ext>
            </a:extLst>
          </p:cNvPr>
          <p:cNvSpPr>
            <a:spLocks xmlns:a="http://schemas.openxmlformats.org/drawingml/2006/main" noGrp="1"/>
          </p:cNvSpPr>
          <p:nvPr/>
        </p:nvSpPr>
        <p:spPr>
          <a:xfrm xmlns:a="http://schemas.openxmlformats.org/drawingml/2006/main">
            <a:off x="6446520" y="3474720"/>
            <a:ext cx="214884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Calibri"/>
                <a:ea typeface="Calibri"/>
                <a:cs typeface="Calibri"/>
              </a:rPr>
              <a:t>Needs Improvement</a:t>
            </a:r>
            <a:endParaRPr sz="1300"/>
          </a:p>
          <a:p xmlns:a="http://schemas.openxmlformats.org/drawingml/2006/main">
            <a:pPr marL="0" indent="0">
              <a:buNone/>
            </a:pPr>
            <a:r>
              <a:rPr sz="1300">
                <a:solidFill>
                  <a:srgbClr val="FFFFFF"/>
                </a:solidFill>
                <a:latin typeface="Calibri"/>
                <a:ea typeface="Calibri"/>
                <a:cs typeface="Calibri"/>
              </a:rPr>
              <a:t>Below 5.0</a:t>
            </a:r>
            <a:endParaRPr sz="1300"/>
          </a:p>
        </p:txBody>
      </p:sp>
      <p:sp>
        <p:nvSpPr>
          <p:cNvPr id="35" name="Text 32">
            <a:extLst xmlns:a="http://schemas.openxmlformats.org/drawingml/2006/main">
              <a:ext uri="{FF2B5EF4-FFF2-40B4-BE49-F238E27FC236}">
                <a16:creationId xmlns:a16="http://schemas.microsoft.com/office/drawing/2014/main" id="{A78741AD-F804-4B87-899A-05F6EFDF2705}"/>
              </a:ext>
            </a:extLst>
          </p:cNvPr>
          <p:cNvSpPr>
            <a:spLocks xmlns:a="http://schemas.openxmlformats.org/drawingml/2006/main" noGrp="1"/>
          </p:cNvSpPr>
          <p:nvPr/>
        </p:nvSpPr>
        <p:spPr>
          <a:xfrm xmlns:a="http://schemas.openxmlformats.org/drawingml/2006/main">
            <a:off x="457200" y="443484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475569"/>
                </a:solidFill>
                <a:latin typeface="Calibri"/>
                <a:ea typeface="Calibri"/>
                <a:cs typeface="Calibri"/>
              </a:rPr>
              <a:t>Heuristic scores, not a hiring verdict. STAR applies only to behavioral answers.</a:t>
            </a:r>
            <a:endParaRPr sz="1200"/>
          </a:p>
        </p:txBody>
      </p:sp>
    </p:spTree>
    <p:extLst>
      <p:ext uri="{BB962C8B-B14F-4D97-AF65-F5344CB8AC3E}">
        <p14:creationId xmlns:p14="http://schemas.microsoft.com/office/powerpoint/2010/main" val="14004718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78B69C7-4621-4766-BD50-BD7F0FF15AD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ED61CA1D-9B50-4449-99F3-172862463146}"/>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STEP 4</a:t>
            </a:r>
            <a:endParaRPr sz="1200"/>
          </a:p>
        </p:txBody>
      </p:sp>
      <p:sp>
        <p:nvSpPr>
          <p:cNvPr id="4" name="Text 2">
            <a:extLst xmlns:a="http://schemas.openxmlformats.org/drawingml/2006/main">
              <a:ext uri="{FF2B5EF4-FFF2-40B4-BE49-F238E27FC236}">
                <a16:creationId xmlns:a16="http://schemas.microsoft.com/office/drawing/2014/main" id="{75F9D263-D331-4A3A-9C7A-6D96843A7099}"/>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A report you can keep, review, and act on</a:t>
            </a:r>
            <a:endParaRPr sz="2800"/>
          </a:p>
        </p:txBody>
      </p:sp>
      <p:sp>
        <p:nvSpPr>
          <p:cNvPr id="5" name="Text 3">
            <a:extLst xmlns:a="http://schemas.openxmlformats.org/drawingml/2006/main">
              <a:ext uri="{FF2B5EF4-FFF2-40B4-BE49-F238E27FC236}">
                <a16:creationId xmlns:a16="http://schemas.microsoft.com/office/drawing/2014/main" id="{9AAAE226-1729-4EF5-A6D1-ACA621CD1657}"/>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7</a:t>
            </a:r>
            <a:endParaRPr sz="1000"/>
          </a:p>
        </p:txBody>
      </p:sp>
      <p:sp>
        <p:nvSpPr>
          <p:cNvPr id="10" name="Text 7">
            <a:extLst xmlns:a="http://schemas.openxmlformats.org/drawingml/2006/main">
              <a:ext uri="{FF2B5EF4-FFF2-40B4-BE49-F238E27FC236}">
                <a16:creationId xmlns:a16="http://schemas.microsoft.com/office/drawing/2014/main" id="{D28E3FB4-EABF-4C15-9B0F-CA81C645A79B}"/>
              </a:ext>
            </a:extLst>
          </p:cNvPr>
          <p:cNvSpPr>
            <a:spLocks xmlns:a="http://schemas.openxmlformats.org/drawingml/2006/main" noGrp="1"/>
          </p:cNvSpPr>
          <p:nvPr/>
        </p:nvSpPr>
        <p:spPr>
          <a:xfrm xmlns:a="http://schemas.openxmlformats.org/drawingml/2006/main">
            <a:off x="5715000" y="1463040"/>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730A3"/>
                </a:solidFill>
                <a:latin typeface="Calibri"/>
                <a:ea typeface="Calibri"/>
                <a:cs typeface="Calibri"/>
              </a:rPr>
              <a:t>What the report includes</a:t>
            </a:r>
            <a:endParaRPr sz="1600"/>
          </a:p>
        </p:txBody>
      </p:sp>
      <p:sp>
        <p:nvSpPr>
          <p:cNvPr id="11" name="Text 8">
            <a:extLst xmlns:a="http://schemas.openxmlformats.org/drawingml/2006/main">
              <a:ext uri="{FF2B5EF4-FFF2-40B4-BE49-F238E27FC236}">
                <a16:creationId xmlns:a16="http://schemas.microsoft.com/office/drawing/2014/main" id="{D877C5A2-A297-412E-9C4D-2139777F5906}"/>
              </a:ext>
            </a:extLst>
          </p:cNvPr>
          <p:cNvSpPr>
            <a:spLocks xmlns:a="http://schemas.openxmlformats.org/drawingml/2006/main" noGrp="1"/>
          </p:cNvSpPr>
          <p:nvPr/>
        </p:nvSpPr>
        <p:spPr>
          <a:xfrm xmlns:a="http://schemas.openxmlformats.org/drawingml/2006/main">
            <a:off x="5715000" y="1920240"/>
            <a:ext cx="2971800" cy="2651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400"/>
            </a:defPPr>
          </a:lstStyle>
          <a:p xmlns:a="http://schemas.openxmlformats.org/drawingml/2006/main">
            <a:pPr marL="342900" indent="-342900">
              <a:spcAft>
                <a:spcPts val="1000"/>
              </a:spcAft>
              <a:buSzPct val="100000"/>
              <a:buChar char="•"/>
            </a:pPr>
            <a:r>
              <a:rPr sz="1400">
                <a:solidFill>
                  <a:srgbClr val="0F172A"/>
                </a:solidFill>
                <a:latin typeface="Calibri"/>
                <a:ea typeface="Calibri"/>
                <a:cs typeface="Calibri"/>
              </a:rPr>
              <a:t>Applicable dimension averages</a:t>
            </a:r>
            <a:endParaRPr sz="1500"/>
          </a:p>
          <a:p xmlns:a="http://schemas.openxmlformats.org/drawingml/2006/main">
            <a:pPr marL="342900" indent="-342900">
              <a:spcAft>
                <a:spcPts val="1000"/>
              </a:spcAft>
              <a:buSzPct val="100000"/>
              <a:buChar char="•"/>
            </a:pPr>
            <a:r>
              <a:rPr sz="1400">
                <a:solidFill>
                  <a:srgbClr val="0F172A"/>
                </a:solidFill>
                <a:latin typeface="Calibri"/>
                <a:ea typeface="Calibri"/>
                <a:cs typeface="Calibri"/>
              </a:rPr>
              <a:t>Actionable improvement tips</a:t>
            </a:r>
            <a:endParaRPr sz="1500"/>
          </a:p>
          <a:p xmlns:a="http://schemas.openxmlformats.org/drawingml/2006/main">
            <a:pPr marL="342900" indent="-342900">
              <a:spcAft>
                <a:spcPts val="1000"/>
              </a:spcAft>
              <a:buSzPct val="100000"/>
              <a:buChar char="•"/>
            </a:pPr>
            <a:r>
              <a:rPr sz="1400">
                <a:solidFill>
                  <a:srgbClr val="0F172A"/>
                </a:solidFill>
                <a:latin typeface="Calibri"/>
                <a:ea typeface="Calibri"/>
                <a:cs typeface="Calibri"/>
              </a:rPr>
              <a:t>Questions, answers, and feedback</a:t>
            </a:r>
            <a:endParaRPr sz="1500"/>
          </a:p>
          <a:p xmlns:a="http://schemas.openxmlformats.org/drawingml/2006/main">
            <a:pPr marL="342900" indent="-342900">
              <a:spcAft>
                <a:spcPts val="1000"/>
              </a:spcAft>
              <a:buSzPct val="100000"/>
              <a:buChar char="•"/>
            </a:pPr>
            <a:r>
              <a:rPr sz="1400">
                <a:solidFill>
                  <a:srgbClr val="0F172A"/>
                </a:solidFill>
                <a:latin typeface="Calibri"/>
                <a:ea typeface="Calibri"/>
                <a:cs typeface="Calibri"/>
              </a:rPr>
              <a:t>Curated example answers</a:t>
            </a:r>
            <a:endParaRPr sz="1500"/>
          </a:p>
          <a:p xmlns:a="http://schemas.openxmlformats.org/drawingml/2006/main">
            <a:pPr marL="342900" indent="-342900">
              <a:spcAft>
                <a:spcPts val="1000"/>
              </a:spcAft>
              <a:buSzPct val="100000"/>
              <a:buChar char="•"/>
            </a:pPr>
            <a:r>
              <a:rPr sz="1400">
                <a:solidFill>
                  <a:srgbClr val="0F172A"/>
                </a:solidFill>
                <a:latin typeface="Calibri"/>
                <a:ea typeface="Calibri"/>
                <a:cs typeface="Calibri"/>
              </a:rPr>
              <a:t>Downloadable PDF report</a:t>
            </a:r>
            <a:endParaRPr sz="1500"/>
          </a:p>
        </p:txBody>
      </p:sp>
      <p:pic>
        <p:nvPicPr>
          <p:cNvPr id="12" name="">
            <a:extLst xmlns:a="http://schemas.openxmlformats.org/drawingml/2006/main">
              <a:ext uri="{FF2B5EF4-FFF2-40B4-BE49-F238E27FC236}">
                <a16:creationId xmlns:a16="http://schemas.microsoft.com/office/drawing/2014/main" id="{CFE40A2F-C4C2-4BFB-9DB0-A0490010B353}"/>
              </a:ext>
            </a:extLst>
          </p:cNvPr>
          <p:cNvPicPr>
            <a:picLocks xmlns:a="http://schemas.openxmlformats.org/drawingml/2006/main" noChangeAspect="1"/>
          </p:cNvPicPr>
          <p:nvPr/>
        </p:nvPicPr>
        <p:blipFill>
          <a:blip xmlns:r="http://schemas.openxmlformats.org/officeDocument/2006/relationships" xmlns:a="http://schemas.openxmlformats.org/drawingml/2006/main" r:embed="R3a78444e431c46f3"/>
          <a:stretch xmlns:a="http://schemas.openxmlformats.org/drawingml/2006/main"/>
        </p:blipFill>
        <p:spPr>
          <a:xfrm xmlns:a="http://schemas.openxmlformats.org/drawingml/2006/main">
            <a:off x="458745" y="1463040"/>
            <a:ext cx="5026110" cy="2828925"/>
          </a:xfrm>
          <a:prstGeom xmlns:a="http://schemas.openxmlformats.org/drawingml/2006/main" prst="rect">
            <a:avLst/>
          </a:prstGeom>
        </p:spPr>
      </p:pic>
      <p:sp>
        <p:nvSpPr>
          <p:cNvPr id="13" name="report-caption">
            <a:extLst xmlns:a="http://schemas.openxmlformats.org/drawingml/2006/main">
              <a:ext uri="{FF2B5EF4-FFF2-40B4-BE49-F238E27FC236}">
                <a16:creationId xmlns:a16="http://schemas.microsoft.com/office/drawing/2014/main" id="{560C0C2E-BCE1-4749-BED6-F2227FB7CA31}"/>
              </a:ext>
            </a:extLst>
          </p:cNvPr>
          <p:cNvSpPr>
            <a:spLocks xmlns:a="http://schemas.openxmlformats.org/drawingml/2006/main" noGrp="1"/>
          </p:cNvSpPr>
          <p:nvPr/>
        </p:nvSpPr>
        <p:spPr>
          <a:xfrm xmlns:a="http://schemas.openxmlformats.org/drawingml/2006/main">
            <a:off x="457200" y="4333875"/>
            <a:ext cx="5029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100">
                <a:solidFill>
                  <a:srgbClr val="475569"/>
                </a:solidFill>
                <a:latin typeface="Calibri"/>
                <a:ea typeface="Calibri"/>
                <a:cs typeface="Calibri"/>
              </a:defRPr>
            </a:defPPr>
          </a:lstStyle>
          <a:p xmlns:a="http://schemas.openxmlformats.org/drawingml/2006/main">
            <a:pPr>
              <a:defRPr sz="1100">
                <a:solidFill>
                  <a:srgbClr val="475569"/>
                </a:solidFill>
                <a:latin typeface="Calibri"/>
                <a:ea typeface="Calibri"/>
                <a:cs typeface="Calibri"/>
              </a:defRPr>
            </a:pPr>
            <a:r>
              <a:rPr sz="1100">
                <a:solidFill>
                  <a:srgbClr val="475569"/>
                </a:solidFill>
                <a:latin typeface="Calibri"/>
                <a:ea typeface="Calibri"/>
                <a:cs typeface="Calibri"/>
              </a:rPr>
              <a:t>Actual sample report: 6.4/10 (illustrative, not a real candidate result).</a:t>
            </a:r>
          </a:p>
        </p:txBody>
      </p:sp>
    </p:spTree>
    <p:extLst>
      <p:ext uri="{BB962C8B-B14F-4D97-AF65-F5344CB8AC3E}">
        <p14:creationId xmlns:p14="http://schemas.microsoft.com/office/powerpoint/2010/main" val="15409637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7AB6961-3E52-41F1-B9D2-4617D6C35799}"/>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6C6767C9-03CA-4BB1-84F9-BF91EE5A3768}"/>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DEMO</a:t>
            </a:r>
            <a:endParaRPr sz="1200"/>
          </a:p>
        </p:txBody>
      </p:sp>
      <p:sp>
        <p:nvSpPr>
          <p:cNvPr id="4" name="Text 2">
            <a:extLst xmlns:a="http://schemas.openxmlformats.org/drawingml/2006/main">
              <a:ext uri="{FF2B5EF4-FFF2-40B4-BE49-F238E27FC236}">
                <a16:creationId xmlns:a16="http://schemas.microsoft.com/office/drawing/2014/main" id="{924EF67C-2BFB-444A-A946-E6A06771C494}"/>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Live demo: practice, report, and dark mode</a:t>
            </a:r>
            <a:endParaRPr sz="2800"/>
          </a:p>
        </p:txBody>
      </p:sp>
      <p:sp>
        <p:nvSpPr>
          <p:cNvPr id="5" name="Text 3">
            <a:extLst xmlns:a="http://schemas.openxmlformats.org/drawingml/2006/main">
              <a:ext uri="{FF2B5EF4-FFF2-40B4-BE49-F238E27FC236}">
                <a16:creationId xmlns:a16="http://schemas.microsoft.com/office/drawing/2014/main" id="{66AF8A30-F6D6-40AA-9481-D023506D81AD}"/>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8</a:t>
            </a:r>
            <a:endParaRPr sz="1000"/>
          </a:p>
        </p:txBody>
      </p:sp>
      <p:sp>
        <p:nvSpPr>
          <p:cNvPr id="7" name="Text 4">
            <a:extLst xmlns:a="http://schemas.openxmlformats.org/drawingml/2006/main">
              <a:ext uri="{FF2B5EF4-FFF2-40B4-BE49-F238E27FC236}">
                <a16:creationId xmlns:a16="http://schemas.microsoft.com/office/drawing/2014/main" id="{3133ED10-458B-4EF3-B08C-6DFF5688BD72}"/>
              </a:ext>
            </a:extLst>
          </p:cNvPr>
          <p:cNvSpPr>
            <a:spLocks xmlns:a="http://schemas.openxmlformats.org/drawingml/2006/main" noGrp="1"/>
          </p:cNvSpPr>
          <p:nvPr/>
        </p:nvSpPr>
        <p:spPr>
          <a:xfrm xmlns:a="http://schemas.openxmlformats.org/drawingml/2006/main">
            <a:off x="457200" y="1463040"/>
            <a:ext cx="2476500"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defPPr>
              <a:defRPr sz="1500"/>
            </a:defPPr>
          </a:lstStyle>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Sign in; select a role, level, and mode</a:t>
            </a:r>
            <a:endParaRPr sz="1600"/>
          </a:p>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Answer a question and explain the rubric</a:t>
            </a:r>
            <a:endParaRPr sz="1600"/>
          </a:p>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Open the sample report and download PDF</a:t>
            </a:r>
            <a:endParaRPr sz="1600"/>
          </a:p>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Toggle dark/light; refresh to show it persists</a:t>
            </a:r>
            <a:endParaRPr sz="1600"/>
          </a:p>
        </p:txBody>
      </p:sp>
      <p:pic>
        <p:nvPicPr>
          <p:cNvPr id="8" name="">
            <a:extLst xmlns:a="http://schemas.openxmlformats.org/drawingml/2006/main">
              <a:ext uri="{FF2B5EF4-FFF2-40B4-BE49-F238E27FC236}">
                <a16:creationId xmlns:a16="http://schemas.microsoft.com/office/drawing/2014/main" id="{D35F4A08-F1DC-452D-9D0F-12626A6797BF}"/>
              </a:ext>
            </a:extLst>
          </p:cNvPr>
          <p:cNvPicPr>
            <a:picLocks xmlns:a="http://schemas.openxmlformats.org/drawingml/2006/main" noChangeAspect="1"/>
          </p:cNvPicPr>
          <p:nvPr/>
        </p:nvPicPr>
        <p:blipFill>
          <a:blip xmlns:r="http://schemas.openxmlformats.org/officeDocument/2006/relationships" xmlns:a="http://schemas.openxmlformats.org/drawingml/2006/main" r:embed="R3c069032339243aa"/>
          <a:stretch xmlns:a="http://schemas.openxmlformats.org/drawingml/2006/main"/>
        </p:blipFill>
        <p:spPr>
          <a:xfrm xmlns:a="http://schemas.openxmlformats.org/drawingml/2006/main">
            <a:off x="3144742" y="1463040"/>
            <a:ext cx="5540567" cy="3118485"/>
          </a:xfrm>
          <a:prstGeom xmlns:a="http://schemas.openxmlformats.org/drawingml/2006/main" prst="rect">
            <a:avLst/>
          </a:prstGeom>
        </p:spPr>
      </p:pic>
    </p:spTree>
    <p:extLst>
      <p:ext uri="{BB962C8B-B14F-4D97-AF65-F5344CB8AC3E}">
        <p14:creationId xmlns:p14="http://schemas.microsoft.com/office/powerpoint/2010/main" val="15619770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263FBD6-63AF-49B0-B24F-76A4E20F38E6}"/>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D37C35BA-2A32-42C6-A88A-702126CF9E03}"/>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HOW IT WORKS</a:t>
            </a:r>
            <a:endParaRPr sz="1200"/>
          </a:p>
        </p:txBody>
      </p:sp>
      <p:sp>
        <p:nvSpPr>
          <p:cNvPr id="4" name="Text 2">
            <a:extLst xmlns:a="http://schemas.openxmlformats.org/drawingml/2006/main">
              <a:ext uri="{FF2B5EF4-FFF2-40B4-BE49-F238E27FC236}">
                <a16:creationId xmlns:a16="http://schemas.microsoft.com/office/drawing/2014/main" id="{763F0664-11BF-4088-B5C5-B0D236FADADB}"/>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Deployed architecture: browser, server, and Convex</a:t>
            </a:r>
            <a:endParaRPr sz="2800"/>
          </a:p>
        </p:txBody>
      </p:sp>
      <p:sp>
        <p:nvSpPr>
          <p:cNvPr id="5" name="Text 3">
            <a:extLst xmlns:a="http://schemas.openxmlformats.org/drawingml/2006/main">
              <a:ext uri="{FF2B5EF4-FFF2-40B4-BE49-F238E27FC236}">
                <a16:creationId xmlns:a16="http://schemas.microsoft.com/office/drawing/2014/main" id="{DD21BEA1-B8C0-41C7-B71F-D23F00FD4C8D}"/>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9</a:t>
            </a:r>
            <a:endParaRPr sz="1000"/>
          </a:p>
        </p:txBody>
      </p:sp>
      <p:sp>
        <p:nvSpPr>
          <p:cNvPr id="7" name="Shape 4">
            <a:extLst xmlns:a="http://schemas.openxmlformats.org/drawingml/2006/main">
              <a:ext uri="{FF2B5EF4-FFF2-40B4-BE49-F238E27FC236}">
                <a16:creationId xmlns:a16="http://schemas.microsoft.com/office/drawing/2014/main" id="{B9D9F6C7-DADB-4321-A6CD-9CA86AF8E8ED}"/>
              </a:ext>
            </a:extLst>
          </p:cNvPr>
          <p:cNvSpPr>
            <a:spLocks xmlns:a="http://schemas.openxmlformats.org/drawingml/2006/main" noGrp="1"/>
          </p:cNvSpPr>
          <p:nvPr/>
        </p:nvSpPr>
        <p:spPr>
          <a:xfrm xmlns:a="http://schemas.openxmlformats.org/drawingml/2006/main">
            <a:off x="457200" y="1463040"/>
            <a:ext cx="8229600" cy="621792"/>
          </a:xfrm>
          <a:prstGeom xmlns:a="http://schemas.openxmlformats.org/drawingml/2006/main" prst="roundRect">
            <a:avLst>
              <a:gd name="adj" fmla="val 11765"/>
            </a:avLst>
          </a:prstGeom>
          <a:solidFill xmlns:a="http://schemas.openxmlformats.org/drawingml/2006/main">
            <a:srgbClr val="EEF2FF"/>
          </a:solidFill>
        </p:spPr>
      </p:sp>
      <p:sp>
        <p:nvSpPr>
          <p:cNvPr id="8" name="Text 5">
            <a:extLst xmlns:a="http://schemas.openxmlformats.org/drawingml/2006/main">
              <a:ext uri="{FF2B5EF4-FFF2-40B4-BE49-F238E27FC236}">
                <a16:creationId xmlns:a16="http://schemas.microsoft.com/office/drawing/2014/main" id="{7C621CC9-7B5A-41E0-9E67-31C0041C051D}"/>
              </a:ext>
            </a:extLst>
          </p:cNvPr>
          <p:cNvSpPr>
            <a:spLocks xmlns:a="http://schemas.openxmlformats.org/drawingml/2006/main" noGrp="1"/>
          </p:cNvSpPr>
          <p:nvPr/>
        </p:nvSpPr>
        <p:spPr>
          <a:xfrm xmlns:a="http://schemas.openxmlformats.org/drawingml/2006/main">
            <a:off x="640080" y="1463040"/>
            <a:ext cx="78638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3730A3"/>
                </a:solidFill>
                <a:latin typeface="Calibri"/>
                <a:ea typeface="Calibri"/>
                <a:cs typeface="Calibri"/>
              </a:rPr>
              <a:t>Frontend   React / Vinext, Cloudflare Workers, jsPDF, persistent themes</a:t>
            </a:r>
            <a:endParaRPr sz="1500"/>
          </a:p>
        </p:txBody>
      </p:sp>
      <p:sp>
        <p:nvSpPr>
          <p:cNvPr id="9" name="Shape 6">
            <a:extLst xmlns:a="http://schemas.openxmlformats.org/drawingml/2006/main">
              <a:ext uri="{FF2B5EF4-FFF2-40B4-BE49-F238E27FC236}">
                <a16:creationId xmlns:a16="http://schemas.microsoft.com/office/drawing/2014/main" id="{44799B3B-791F-451A-99E2-4562949DEE33}"/>
              </a:ext>
            </a:extLst>
          </p:cNvPr>
          <p:cNvSpPr>
            <a:spLocks xmlns:a="http://schemas.openxmlformats.org/drawingml/2006/main" noGrp="1"/>
          </p:cNvSpPr>
          <p:nvPr/>
        </p:nvSpPr>
        <p:spPr>
          <a:xfrm xmlns:a="http://schemas.openxmlformats.org/drawingml/2006/main">
            <a:off x="4572000" y="2084832"/>
            <a:ext cx="0" cy="155448"/>
          </a:xfrm>
          <a:prstGeom xmlns:a="http://schemas.openxmlformats.org/drawingml/2006/main" prst="line">
            <a:avLst/>
          </a:prstGeom>
          <a:noFill xmlns:a="http://schemas.openxmlformats.org/drawingml/2006/main"/>
          <a:ln xmlns:a="http://schemas.openxmlformats.org/drawingml/2006/main" w="19050">
            <a:solidFill>
              <a:srgbClr val="3730A3"/>
            </a:solidFill>
            <a:prstDash val="solid"/>
            <a:tailEnd type="triangle"/>
          </a:ln>
        </p:spPr>
      </p:sp>
      <p:sp>
        <p:nvSpPr>
          <p:cNvPr id="10" name="Shape 7">
            <a:extLst xmlns:a="http://schemas.openxmlformats.org/drawingml/2006/main">
              <a:ext uri="{FF2B5EF4-FFF2-40B4-BE49-F238E27FC236}">
                <a16:creationId xmlns:a16="http://schemas.microsoft.com/office/drawing/2014/main" id="{19FFA9B8-2E71-4386-8085-71BD4BBFB0F6}"/>
              </a:ext>
            </a:extLst>
          </p:cNvPr>
          <p:cNvSpPr>
            <a:spLocks xmlns:a="http://schemas.openxmlformats.org/drawingml/2006/main" noGrp="1"/>
          </p:cNvSpPr>
          <p:nvPr/>
        </p:nvSpPr>
        <p:spPr>
          <a:xfrm xmlns:a="http://schemas.openxmlformats.org/drawingml/2006/main">
            <a:off x="457200" y="2240280"/>
            <a:ext cx="8229600" cy="621792"/>
          </a:xfrm>
          <a:prstGeom xmlns:a="http://schemas.openxmlformats.org/drawingml/2006/main" prst="roundRect">
            <a:avLst>
              <a:gd name="adj" fmla="val 11765"/>
            </a:avLst>
          </a:prstGeom>
          <a:solidFill xmlns:a="http://schemas.openxmlformats.org/drawingml/2006/main">
            <a:srgbClr val="EEF2FF"/>
          </a:solidFill>
        </p:spPr>
      </p:sp>
      <p:sp>
        <p:nvSpPr>
          <p:cNvPr id="11" name="Text 8">
            <a:extLst xmlns:a="http://schemas.openxmlformats.org/drawingml/2006/main">
              <a:ext uri="{FF2B5EF4-FFF2-40B4-BE49-F238E27FC236}">
                <a16:creationId xmlns:a16="http://schemas.microsoft.com/office/drawing/2014/main" id="{E176DB15-F04A-4E21-B7B3-ABF736D44CA5}"/>
              </a:ext>
            </a:extLst>
          </p:cNvPr>
          <p:cNvSpPr>
            <a:spLocks xmlns:a="http://schemas.openxmlformats.org/drawingml/2006/main" noGrp="1"/>
          </p:cNvSpPr>
          <p:nvPr/>
        </p:nvSpPr>
        <p:spPr>
          <a:xfrm xmlns:a="http://schemas.openxmlformats.org/drawingml/2006/main">
            <a:off x="640080" y="2240280"/>
            <a:ext cx="78638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3730A3"/>
                </a:solidFill>
                <a:latin typeface="Calibri"/>
                <a:ea typeface="Calibri"/>
                <a:cs typeface="Calibri"/>
              </a:rPr>
              <a:t>Authentication   Better Auth email/password, server-checked sessions</a:t>
            </a:r>
            <a:endParaRPr sz="1500"/>
          </a:p>
        </p:txBody>
      </p:sp>
      <p:sp>
        <p:nvSpPr>
          <p:cNvPr id="12" name="Shape 9">
            <a:extLst xmlns:a="http://schemas.openxmlformats.org/drawingml/2006/main">
              <a:ext uri="{FF2B5EF4-FFF2-40B4-BE49-F238E27FC236}">
                <a16:creationId xmlns:a16="http://schemas.microsoft.com/office/drawing/2014/main" id="{F8635097-ED1D-4E6D-84EB-7510C2D509E8}"/>
              </a:ext>
            </a:extLst>
          </p:cNvPr>
          <p:cNvSpPr>
            <a:spLocks xmlns:a="http://schemas.openxmlformats.org/drawingml/2006/main" noGrp="1"/>
          </p:cNvSpPr>
          <p:nvPr/>
        </p:nvSpPr>
        <p:spPr>
          <a:xfrm xmlns:a="http://schemas.openxmlformats.org/drawingml/2006/main">
            <a:off x="4572000" y="2862072"/>
            <a:ext cx="0" cy="155448"/>
          </a:xfrm>
          <a:prstGeom xmlns:a="http://schemas.openxmlformats.org/drawingml/2006/main" prst="line">
            <a:avLst/>
          </a:prstGeom>
          <a:noFill xmlns:a="http://schemas.openxmlformats.org/drawingml/2006/main"/>
          <a:ln xmlns:a="http://schemas.openxmlformats.org/drawingml/2006/main" w="19050">
            <a:solidFill>
              <a:srgbClr val="3730A3"/>
            </a:solidFill>
            <a:prstDash val="solid"/>
            <a:tailEnd type="triangle"/>
          </a:ln>
        </p:spPr>
      </p:sp>
      <p:sp>
        <p:nvSpPr>
          <p:cNvPr id="13" name="Shape 10">
            <a:extLst xmlns:a="http://schemas.openxmlformats.org/drawingml/2006/main">
              <a:ext uri="{FF2B5EF4-FFF2-40B4-BE49-F238E27FC236}">
                <a16:creationId xmlns:a16="http://schemas.microsoft.com/office/drawing/2014/main" id="{B2FCC2A9-DA93-4FA3-B5A8-5DBBD7C6A0B6}"/>
              </a:ext>
            </a:extLst>
          </p:cNvPr>
          <p:cNvSpPr>
            <a:spLocks xmlns:a="http://schemas.openxmlformats.org/drawingml/2006/main" noGrp="1"/>
          </p:cNvSpPr>
          <p:nvPr/>
        </p:nvSpPr>
        <p:spPr>
          <a:xfrm xmlns:a="http://schemas.openxmlformats.org/drawingml/2006/main">
            <a:off x="457200" y="3017520"/>
            <a:ext cx="8229600" cy="621792"/>
          </a:xfrm>
          <a:prstGeom xmlns:a="http://schemas.openxmlformats.org/drawingml/2006/main" prst="roundRect">
            <a:avLst>
              <a:gd name="adj" fmla="val 11765"/>
            </a:avLst>
          </a:prstGeom>
          <a:solidFill xmlns:a="http://schemas.openxmlformats.org/drawingml/2006/main">
            <a:srgbClr val="3730A3"/>
          </a:solidFill>
        </p:spPr>
      </p:sp>
      <p:sp>
        <p:nvSpPr>
          <p:cNvPr id="14" name="Text 11">
            <a:extLst xmlns:a="http://schemas.openxmlformats.org/drawingml/2006/main">
              <a:ext uri="{FF2B5EF4-FFF2-40B4-BE49-F238E27FC236}">
                <a16:creationId xmlns:a16="http://schemas.microsoft.com/office/drawing/2014/main" id="{CC6ECEE4-92D8-4935-9FB6-3EF4FFB058E0}"/>
              </a:ext>
            </a:extLst>
          </p:cNvPr>
          <p:cNvSpPr>
            <a:spLocks xmlns:a="http://schemas.openxmlformats.org/drawingml/2006/main" noGrp="1"/>
          </p:cNvSpPr>
          <p:nvPr/>
        </p:nvSpPr>
        <p:spPr>
          <a:xfrm xmlns:a="http://schemas.openxmlformats.org/drawingml/2006/main">
            <a:off x="640080" y="3017520"/>
            <a:ext cx="78638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Evaluation   Curated question bank + illustrative heuristic (not live AI)</a:t>
            </a:r>
            <a:endParaRPr sz="1500"/>
          </a:p>
        </p:txBody>
      </p:sp>
      <p:sp>
        <p:nvSpPr>
          <p:cNvPr id="15" name="Shape 12">
            <a:extLst xmlns:a="http://schemas.openxmlformats.org/drawingml/2006/main">
              <a:ext uri="{FF2B5EF4-FFF2-40B4-BE49-F238E27FC236}">
                <a16:creationId xmlns:a16="http://schemas.microsoft.com/office/drawing/2014/main" id="{F51B5FF4-72D2-400D-B7C3-E3592E04ACEC}"/>
              </a:ext>
            </a:extLst>
          </p:cNvPr>
          <p:cNvSpPr>
            <a:spLocks xmlns:a="http://schemas.openxmlformats.org/drawingml/2006/main" noGrp="1"/>
          </p:cNvSpPr>
          <p:nvPr/>
        </p:nvSpPr>
        <p:spPr>
          <a:xfrm xmlns:a="http://schemas.openxmlformats.org/drawingml/2006/main">
            <a:off x="4572000" y="3639312"/>
            <a:ext cx="0" cy="155448"/>
          </a:xfrm>
          <a:prstGeom xmlns:a="http://schemas.openxmlformats.org/drawingml/2006/main" prst="line">
            <a:avLst/>
          </a:prstGeom>
          <a:noFill xmlns:a="http://schemas.openxmlformats.org/drawingml/2006/main"/>
          <a:ln xmlns:a="http://schemas.openxmlformats.org/drawingml/2006/main" w="19050">
            <a:solidFill>
              <a:srgbClr val="3730A3"/>
            </a:solidFill>
            <a:prstDash val="solid"/>
            <a:tailEnd type="triangle"/>
          </a:ln>
        </p:spPr>
      </p:sp>
      <p:sp>
        <p:nvSpPr>
          <p:cNvPr id="16" name="Shape 13">
            <a:extLst xmlns:a="http://schemas.openxmlformats.org/drawingml/2006/main">
              <a:ext uri="{FF2B5EF4-FFF2-40B4-BE49-F238E27FC236}">
                <a16:creationId xmlns:a16="http://schemas.microsoft.com/office/drawing/2014/main" id="{5A403EB8-11BC-46F8-9AC4-90BC0CEF34B6}"/>
              </a:ext>
            </a:extLst>
          </p:cNvPr>
          <p:cNvSpPr>
            <a:spLocks xmlns:a="http://schemas.openxmlformats.org/drawingml/2006/main" noGrp="1"/>
          </p:cNvSpPr>
          <p:nvPr/>
        </p:nvSpPr>
        <p:spPr>
          <a:xfrm xmlns:a="http://schemas.openxmlformats.org/drawingml/2006/main">
            <a:off x="457200" y="3794760"/>
            <a:ext cx="8229600" cy="621792"/>
          </a:xfrm>
          <a:prstGeom xmlns:a="http://schemas.openxmlformats.org/drawingml/2006/main" prst="roundRect">
            <a:avLst>
              <a:gd name="adj" fmla="val 11765"/>
            </a:avLst>
          </a:prstGeom>
          <a:solidFill xmlns:a="http://schemas.openxmlformats.org/drawingml/2006/main">
            <a:srgbClr val="EEF2FF"/>
          </a:solidFill>
        </p:spPr>
      </p:sp>
      <p:sp>
        <p:nvSpPr>
          <p:cNvPr id="17" name="Text 14">
            <a:extLst xmlns:a="http://schemas.openxmlformats.org/drawingml/2006/main">
              <a:ext uri="{FF2B5EF4-FFF2-40B4-BE49-F238E27FC236}">
                <a16:creationId xmlns:a16="http://schemas.microsoft.com/office/drawing/2014/main" id="{031C5ABA-E246-4DF5-ABEE-1652138E2C1F}"/>
              </a:ext>
            </a:extLst>
          </p:cNvPr>
          <p:cNvSpPr>
            <a:spLocks xmlns:a="http://schemas.openxmlformats.org/drawingml/2006/main" noGrp="1"/>
          </p:cNvSpPr>
          <p:nvPr/>
        </p:nvSpPr>
        <p:spPr>
          <a:xfrm xmlns:a="http://schemas.openxmlformats.org/drawingml/2006/main">
            <a:off x="640080" y="3794760"/>
            <a:ext cx="786384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3730A3"/>
                </a:solidFill>
                <a:latin typeface="Calibri"/>
                <a:ea typeface="Calibri"/>
                <a:cs typeface="Calibri"/>
              </a:rPr>
              <a:t>Data   Convex Canada (Central): private sessions, answers, reports</a:t>
            </a:r>
            <a:endParaRPr sz="1500"/>
          </a:p>
        </p:txBody>
      </p:sp>
    </p:spTree>
    <p:extLst>
      <p:ext uri="{BB962C8B-B14F-4D97-AF65-F5344CB8AC3E}">
        <p14:creationId xmlns:p14="http://schemas.microsoft.com/office/powerpoint/2010/main" val="12438340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5ACC0D3-5C24-4602-A24E-54AE0E5151C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D8F3FC1F-1B02-493F-9A3F-906D68B47561}"/>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REQUEST FLOW</a:t>
            </a:r>
            <a:endParaRPr sz="1200"/>
          </a:p>
        </p:txBody>
      </p:sp>
      <p:sp>
        <p:nvSpPr>
          <p:cNvPr id="4" name="Text 2">
            <a:extLst xmlns:a="http://schemas.openxmlformats.org/drawingml/2006/main">
              <a:ext uri="{FF2B5EF4-FFF2-40B4-BE49-F238E27FC236}">
                <a16:creationId xmlns:a16="http://schemas.microsoft.com/office/drawing/2014/main" id="{17ABAE05-9ABD-4CD3-B9F2-2E910EDDD50A}"/>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What happens when a student submits an answer</a:t>
            </a:r>
            <a:endParaRPr sz="2800"/>
          </a:p>
        </p:txBody>
      </p:sp>
      <p:sp>
        <p:nvSpPr>
          <p:cNvPr id="5" name="Text 3">
            <a:extLst xmlns:a="http://schemas.openxmlformats.org/drawingml/2006/main">
              <a:ext uri="{FF2B5EF4-FFF2-40B4-BE49-F238E27FC236}">
                <a16:creationId xmlns:a16="http://schemas.microsoft.com/office/drawing/2014/main" id="{B2B2F366-1CE6-4091-AB9B-9ACED104B0E6}"/>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10</a:t>
            </a:r>
            <a:endParaRPr sz="1000"/>
          </a:p>
        </p:txBody>
      </p:sp>
      <p:sp>
        <p:nvSpPr>
          <p:cNvPr id="7" name="Shape 4">
            <a:extLst xmlns:a="http://schemas.openxmlformats.org/drawingml/2006/main">
              <a:ext uri="{FF2B5EF4-FFF2-40B4-BE49-F238E27FC236}">
                <a16:creationId xmlns:a16="http://schemas.microsoft.com/office/drawing/2014/main" id="{8AA674F1-4051-48F4-8C4F-E5030523A42F}"/>
              </a:ext>
            </a:extLst>
          </p:cNvPr>
          <p:cNvSpPr>
            <a:spLocks xmlns:a="http://schemas.openxmlformats.org/drawingml/2006/main" noGrp="1"/>
          </p:cNvSpPr>
          <p:nvPr/>
        </p:nvSpPr>
        <p:spPr>
          <a:xfrm xmlns:a="http://schemas.openxmlformats.org/drawingml/2006/main">
            <a:off x="457200" y="1554480"/>
            <a:ext cx="2560320" cy="1143000"/>
          </a:xfrm>
          <a:prstGeom xmlns:a="http://schemas.openxmlformats.org/drawingml/2006/main" prst="roundRect">
            <a:avLst>
              <a:gd name="adj" fmla="val 6400"/>
            </a:avLst>
          </a:prstGeom>
          <a:solidFill xmlns:a="http://schemas.openxmlformats.org/drawingml/2006/main">
            <a:srgbClr val="EEF2FF"/>
          </a:solidFill>
          <a:ln xmlns:a="http://schemas.openxmlformats.org/drawingml/2006/main" w="12700">
            <a:solidFill>
              <a:srgbClr val="CBD5E1"/>
            </a:solidFill>
            <a:prstDash val="solid"/>
          </a:ln>
        </p:spPr>
      </p:sp>
      <p:sp>
        <p:nvSpPr>
          <p:cNvPr id="8" name="Text 5">
            <a:extLst xmlns:a="http://schemas.openxmlformats.org/drawingml/2006/main">
              <a:ext uri="{FF2B5EF4-FFF2-40B4-BE49-F238E27FC236}">
                <a16:creationId xmlns:a16="http://schemas.microsoft.com/office/drawing/2014/main" id="{98A502DE-F262-4EF1-9464-1BF07EA9A2F3}"/>
              </a:ext>
            </a:extLst>
          </p:cNvPr>
          <p:cNvSpPr>
            <a:spLocks xmlns:a="http://schemas.openxmlformats.org/drawingml/2006/main" noGrp="1"/>
          </p:cNvSpPr>
          <p:nvPr/>
        </p:nvSpPr>
        <p:spPr>
          <a:xfrm xmlns:a="http://schemas.openxmlformats.org/drawingml/2006/main">
            <a:off x="594360" y="16459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3730A3"/>
                </a:solidFill>
                <a:latin typeface="Calibri"/>
                <a:ea typeface="Calibri"/>
                <a:cs typeface="Calibri"/>
              </a:rPr>
              <a:t>1</a:t>
            </a:r>
            <a:endParaRPr sz="2000"/>
          </a:p>
        </p:txBody>
      </p:sp>
      <p:sp>
        <p:nvSpPr>
          <p:cNvPr id="9" name="Text 6">
            <a:extLst xmlns:a="http://schemas.openxmlformats.org/drawingml/2006/main">
              <a:ext uri="{FF2B5EF4-FFF2-40B4-BE49-F238E27FC236}">
                <a16:creationId xmlns:a16="http://schemas.microsoft.com/office/drawing/2014/main" id="{72DC044B-CCA3-4B5F-B585-AFF90E8E6D56}"/>
              </a:ext>
            </a:extLst>
          </p:cNvPr>
          <p:cNvSpPr>
            <a:spLocks xmlns:a="http://schemas.openxmlformats.org/drawingml/2006/main" noGrp="1"/>
          </p:cNvSpPr>
          <p:nvPr/>
        </p:nvSpPr>
        <p:spPr>
          <a:xfrm xmlns:a="http://schemas.openxmlformats.org/drawingml/2006/main">
            <a:off x="1005840" y="1645920"/>
            <a:ext cx="19202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72A"/>
                </a:solidFill>
                <a:latin typeface="Calibri"/>
                <a:ea typeface="Calibri"/>
                <a:cs typeface="Calibri"/>
              </a:rPr>
              <a:t>Student submits answer</a:t>
            </a:r>
            <a:endParaRPr sz="1300"/>
          </a:p>
        </p:txBody>
      </p:sp>
      <p:sp>
        <p:nvSpPr>
          <p:cNvPr id="10" name="Shape 7">
            <a:extLst xmlns:a="http://schemas.openxmlformats.org/drawingml/2006/main">
              <a:ext uri="{FF2B5EF4-FFF2-40B4-BE49-F238E27FC236}">
                <a16:creationId xmlns:a16="http://schemas.microsoft.com/office/drawing/2014/main" id="{EF807FED-8C03-4A31-BC05-E2767740DB88}"/>
              </a:ext>
            </a:extLst>
          </p:cNvPr>
          <p:cNvSpPr>
            <a:spLocks xmlns:a="http://schemas.openxmlformats.org/drawingml/2006/main" noGrp="1"/>
          </p:cNvSpPr>
          <p:nvPr/>
        </p:nvSpPr>
        <p:spPr>
          <a:xfrm xmlns:a="http://schemas.openxmlformats.org/drawingml/2006/main">
            <a:off x="3291840" y="1554480"/>
            <a:ext cx="2560320" cy="1143000"/>
          </a:xfrm>
          <a:prstGeom xmlns:a="http://schemas.openxmlformats.org/drawingml/2006/main" prst="roundRect">
            <a:avLst>
              <a:gd name="adj" fmla="val 6400"/>
            </a:avLst>
          </a:prstGeom>
          <a:solidFill xmlns:a="http://schemas.openxmlformats.org/drawingml/2006/main">
            <a:srgbClr val="EEF2FF"/>
          </a:solidFill>
          <a:ln xmlns:a="http://schemas.openxmlformats.org/drawingml/2006/main" w="12700">
            <a:solidFill>
              <a:srgbClr val="CBD5E1"/>
            </a:solidFill>
            <a:prstDash val="solid"/>
          </a:ln>
        </p:spPr>
      </p:sp>
      <p:sp>
        <p:nvSpPr>
          <p:cNvPr id="11" name="Text 8">
            <a:extLst xmlns:a="http://schemas.openxmlformats.org/drawingml/2006/main">
              <a:ext uri="{FF2B5EF4-FFF2-40B4-BE49-F238E27FC236}">
                <a16:creationId xmlns:a16="http://schemas.microsoft.com/office/drawing/2014/main" id="{12F358CC-E243-446C-9D31-F1E7E3BC537D}"/>
              </a:ext>
            </a:extLst>
          </p:cNvPr>
          <p:cNvSpPr>
            <a:spLocks xmlns:a="http://schemas.openxmlformats.org/drawingml/2006/main" noGrp="1"/>
          </p:cNvSpPr>
          <p:nvPr/>
        </p:nvSpPr>
        <p:spPr>
          <a:xfrm xmlns:a="http://schemas.openxmlformats.org/drawingml/2006/main">
            <a:off x="3429000" y="16459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3730A3"/>
                </a:solidFill>
                <a:latin typeface="Calibri"/>
                <a:ea typeface="Calibri"/>
                <a:cs typeface="Calibri"/>
              </a:rPr>
              <a:t>2</a:t>
            </a:r>
            <a:endParaRPr sz="2000"/>
          </a:p>
        </p:txBody>
      </p:sp>
      <p:sp>
        <p:nvSpPr>
          <p:cNvPr id="12" name="Text 9">
            <a:extLst xmlns:a="http://schemas.openxmlformats.org/drawingml/2006/main">
              <a:ext uri="{FF2B5EF4-FFF2-40B4-BE49-F238E27FC236}">
                <a16:creationId xmlns:a16="http://schemas.microsoft.com/office/drawing/2014/main" id="{A52AFCD0-35E2-40C1-8D09-6F878CCF1FCC}"/>
              </a:ext>
            </a:extLst>
          </p:cNvPr>
          <p:cNvSpPr>
            <a:spLocks xmlns:a="http://schemas.openxmlformats.org/drawingml/2006/main" noGrp="1"/>
          </p:cNvSpPr>
          <p:nvPr/>
        </p:nvSpPr>
        <p:spPr>
          <a:xfrm xmlns:a="http://schemas.openxmlformats.org/drawingml/2006/main">
            <a:off x="3840480" y="1645920"/>
            <a:ext cx="19202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72A"/>
                </a:solidFill>
                <a:latin typeface="Calibri"/>
                <a:ea typeface="Calibri"/>
                <a:cs typeface="Calibri"/>
              </a:rPr>
              <a:t>Server verifies account ownership, length, and duplicate submissions</a:t>
            </a:r>
            <a:endParaRPr sz="1300"/>
          </a:p>
        </p:txBody>
      </p:sp>
      <p:sp>
        <p:nvSpPr>
          <p:cNvPr id="13" name="Shape 10">
            <a:extLst xmlns:a="http://schemas.openxmlformats.org/drawingml/2006/main">
              <a:ext uri="{FF2B5EF4-FFF2-40B4-BE49-F238E27FC236}">
                <a16:creationId xmlns:a16="http://schemas.microsoft.com/office/drawing/2014/main" id="{7E696B5A-2F47-4276-91DA-2F83F5EF1927}"/>
              </a:ext>
            </a:extLst>
          </p:cNvPr>
          <p:cNvSpPr>
            <a:spLocks xmlns:a="http://schemas.openxmlformats.org/drawingml/2006/main" noGrp="1"/>
          </p:cNvSpPr>
          <p:nvPr/>
        </p:nvSpPr>
        <p:spPr>
          <a:xfrm xmlns:a="http://schemas.openxmlformats.org/drawingml/2006/main">
            <a:off x="6126480" y="1554480"/>
            <a:ext cx="2560320" cy="1143000"/>
          </a:xfrm>
          <a:prstGeom xmlns:a="http://schemas.openxmlformats.org/drawingml/2006/main" prst="roundRect">
            <a:avLst>
              <a:gd name="adj" fmla="val 6400"/>
            </a:avLst>
          </a:prstGeom>
          <a:solidFill xmlns:a="http://schemas.openxmlformats.org/drawingml/2006/main">
            <a:srgbClr val="EEF2FF"/>
          </a:solidFill>
          <a:ln xmlns:a="http://schemas.openxmlformats.org/drawingml/2006/main" w="12700">
            <a:solidFill>
              <a:srgbClr val="CBD5E1"/>
            </a:solidFill>
            <a:prstDash val="solid"/>
          </a:ln>
        </p:spPr>
      </p:sp>
      <p:sp>
        <p:nvSpPr>
          <p:cNvPr id="14" name="Text 11">
            <a:extLst xmlns:a="http://schemas.openxmlformats.org/drawingml/2006/main">
              <a:ext uri="{FF2B5EF4-FFF2-40B4-BE49-F238E27FC236}">
                <a16:creationId xmlns:a16="http://schemas.microsoft.com/office/drawing/2014/main" id="{F9EE8D60-4BEF-43B5-A42B-80A2F31444A1}"/>
              </a:ext>
            </a:extLst>
          </p:cNvPr>
          <p:cNvSpPr>
            <a:spLocks xmlns:a="http://schemas.openxmlformats.org/drawingml/2006/main" noGrp="1"/>
          </p:cNvSpPr>
          <p:nvPr/>
        </p:nvSpPr>
        <p:spPr>
          <a:xfrm xmlns:a="http://schemas.openxmlformats.org/drawingml/2006/main">
            <a:off x="6263640" y="16459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3730A3"/>
                </a:solidFill>
                <a:latin typeface="Calibri"/>
                <a:ea typeface="Calibri"/>
                <a:cs typeface="Calibri"/>
              </a:rPr>
              <a:t>3</a:t>
            </a:r>
            <a:endParaRPr sz="2000"/>
          </a:p>
        </p:txBody>
      </p:sp>
      <p:sp>
        <p:nvSpPr>
          <p:cNvPr id="15" name="Text 12">
            <a:extLst xmlns:a="http://schemas.openxmlformats.org/drawingml/2006/main">
              <a:ext uri="{FF2B5EF4-FFF2-40B4-BE49-F238E27FC236}">
                <a16:creationId xmlns:a16="http://schemas.microsoft.com/office/drawing/2014/main" id="{A0B32D86-7791-4C5C-8D98-0C4DC52CE071}"/>
              </a:ext>
            </a:extLst>
          </p:cNvPr>
          <p:cNvSpPr>
            <a:spLocks xmlns:a="http://schemas.openxmlformats.org/drawingml/2006/main" noGrp="1"/>
          </p:cNvSpPr>
          <p:nvPr/>
        </p:nvSpPr>
        <p:spPr>
          <a:xfrm xmlns:a="http://schemas.openxmlformats.org/drawingml/2006/main">
            <a:off x="6675120" y="1645920"/>
            <a:ext cx="19202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72A"/>
                </a:solidFill>
                <a:latin typeface="Calibri"/>
                <a:ea typeface="Calibri"/>
                <a:cs typeface="Calibri"/>
              </a:rPr>
              <a:t>Heuristic evaluates structure and role-related keywords</a:t>
            </a:r>
            <a:endParaRPr sz="1300"/>
          </a:p>
        </p:txBody>
      </p:sp>
      <p:sp>
        <p:nvSpPr>
          <p:cNvPr id="16" name="Shape 13">
            <a:extLst xmlns:a="http://schemas.openxmlformats.org/drawingml/2006/main">
              <a:ext uri="{FF2B5EF4-FFF2-40B4-BE49-F238E27FC236}">
                <a16:creationId xmlns:a16="http://schemas.microsoft.com/office/drawing/2014/main" id="{7B7F55DF-D986-4073-8C62-4126100A4DCA}"/>
              </a:ext>
            </a:extLst>
          </p:cNvPr>
          <p:cNvSpPr>
            <a:spLocks xmlns:a="http://schemas.openxmlformats.org/drawingml/2006/main" noGrp="1"/>
          </p:cNvSpPr>
          <p:nvPr/>
        </p:nvSpPr>
        <p:spPr>
          <a:xfrm xmlns:a="http://schemas.openxmlformats.org/drawingml/2006/main">
            <a:off x="457200" y="3108960"/>
            <a:ext cx="2560320" cy="1143000"/>
          </a:xfrm>
          <a:prstGeom xmlns:a="http://schemas.openxmlformats.org/drawingml/2006/main" prst="roundRect">
            <a:avLst>
              <a:gd name="adj" fmla="val 6400"/>
            </a:avLst>
          </a:prstGeom>
          <a:solidFill xmlns:a="http://schemas.openxmlformats.org/drawingml/2006/main">
            <a:srgbClr val="F8FAFC"/>
          </a:solidFill>
          <a:ln xmlns:a="http://schemas.openxmlformats.org/drawingml/2006/main" w="12700">
            <a:solidFill>
              <a:srgbClr val="CBD5E1"/>
            </a:solidFill>
            <a:prstDash val="solid"/>
          </a:ln>
        </p:spPr>
      </p:sp>
      <p:sp>
        <p:nvSpPr>
          <p:cNvPr id="17" name="Text 14">
            <a:extLst xmlns:a="http://schemas.openxmlformats.org/drawingml/2006/main">
              <a:ext uri="{FF2B5EF4-FFF2-40B4-BE49-F238E27FC236}">
                <a16:creationId xmlns:a16="http://schemas.microsoft.com/office/drawing/2014/main" id="{07715087-F857-468E-A490-84E15CF22065}"/>
              </a:ext>
            </a:extLst>
          </p:cNvPr>
          <p:cNvSpPr>
            <a:spLocks xmlns:a="http://schemas.openxmlformats.org/drawingml/2006/main" noGrp="1"/>
          </p:cNvSpPr>
          <p:nvPr/>
        </p:nvSpPr>
        <p:spPr>
          <a:xfrm xmlns:a="http://schemas.openxmlformats.org/drawingml/2006/main">
            <a:off x="594360" y="32004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3730A3"/>
                </a:solidFill>
                <a:latin typeface="Calibri"/>
                <a:ea typeface="Calibri"/>
                <a:cs typeface="Calibri"/>
              </a:rPr>
              <a:t>4</a:t>
            </a:r>
            <a:endParaRPr sz="2000"/>
          </a:p>
        </p:txBody>
      </p:sp>
      <p:sp>
        <p:nvSpPr>
          <p:cNvPr id="18" name="Text 15">
            <a:extLst xmlns:a="http://schemas.openxmlformats.org/drawingml/2006/main">
              <a:ext uri="{FF2B5EF4-FFF2-40B4-BE49-F238E27FC236}">
                <a16:creationId xmlns:a16="http://schemas.microsoft.com/office/drawing/2014/main" id="{6FC0731F-D17A-4880-8491-D5730CFA3B77}"/>
              </a:ext>
            </a:extLst>
          </p:cNvPr>
          <p:cNvSpPr>
            <a:spLocks xmlns:a="http://schemas.openxmlformats.org/drawingml/2006/main" noGrp="1"/>
          </p:cNvSpPr>
          <p:nvPr/>
        </p:nvSpPr>
        <p:spPr>
          <a:xfrm xmlns:a="http://schemas.openxmlformats.org/drawingml/2006/main">
            <a:off x="1005840" y="3200400"/>
            <a:ext cx="19202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72A"/>
                </a:solidFill>
                <a:latin typeface="Calibri"/>
                <a:ea typeface="Calibri"/>
                <a:cs typeface="Calibri"/>
              </a:rPr>
              <a:t>Applicable dimensions are averaged; technical STAR excluded</a:t>
            </a:r>
            <a:endParaRPr sz="1300"/>
          </a:p>
        </p:txBody>
      </p:sp>
      <p:sp>
        <p:nvSpPr>
          <p:cNvPr id="19" name="Shape 16">
            <a:extLst xmlns:a="http://schemas.openxmlformats.org/drawingml/2006/main">
              <a:ext uri="{FF2B5EF4-FFF2-40B4-BE49-F238E27FC236}">
                <a16:creationId xmlns:a16="http://schemas.microsoft.com/office/drawing/2014/main" id="{F9ABABE6-EA3A-43CB-89FF-61CF6C074719}"/>
              </a:ext>
            </a:extLst>
          </p:cNvPr>
          <p:cNvSpPr>
            <a:spLocks xmlns:a="http://schemas.openxmlformats.org/drawingml/2006/main" noGrp="1"/>
          </p:cNvSpPr>
          <p:nvPr/>
        </p:nvSpPr>
        <p:spPr>
          <a:xfrm xmlns:a="http://schemas.openxmlformats.org/drawingml/2006/main">
            <a:off x="3291840" y="3108960"/>
            <a:ext cx="2560320" cy="1143000"/>
          </a:xfrm>
          <a:prstGeom xmlns:a="http://schemas.openxmlformats.org/drawingml/2006/main" prst="roundRect">
            <a:avLst>
              <a:gd name="adj" fmla="val 6400"/>
            </a:avLst>
          </a:prstGeom>
          <a:solidFill xmlns:a="http://schemas.openxmlformats.org/drawingml/2006/main">
            <a:srgbClr val="F8FAFC"/>
          </a:solidFill>
          <a:ln xmlns:a="http://schemas.openxmlformats.org/drawingml/2006/main" w="12700">
            <a:solidFill>
              <a:srgbClr val="CBD5E1"/>
            </a:solidFill>
            <a:prstDash val="solid"/>
          </a:ln>
        </p:spPr>
      </p:sp>
      <p:sp>
        <p:nvSpPr>
          <p:cNvPr id="20" name="Text 17">
            <a:extLst xmlns:a="http://schemas.openxmlformats.org/drawingml/2006/main">
              <a:ext uri="{FF2B5EF4-FFF2-40B4-BE49-F238E27FC236}">
                <a16:creationId xmlns:a16="http://schemas.microsoft.com/office/drawing/2014/main" id="{C7A5A5AD-E9CB-4853-BB8F-E17ECA69DF3E}"/>
              </a:ext>
            </a:extLst>
          </p:cNvPr>
          <p:cNvSpPr>
            <a:spLocks xmlns:a="http://schemas.openxmlformats.org/drawingml/2006/main" noGrp="1"/>
          </p:cNvSpPr>
          <p:nvPr/>
        </p:nvSpPr>
        <p:spPr>
          <a:xfrm xmlns:a="http://schemas.openxmlformats.org/drawingml/2006/main">
            <a:off x="3429000" y="32004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3730A3"/>
                </a:solidFill>
                <a:latin typeface="Calibri"/>
                <a:ea typeface="Calibri"/>
                <a:cs typeface="Calibri"/>
              </a:rPr>
              <a:t>5</a:t>
            </a:r>
            <a:endParaRPr sz="2000"/>
          </a:p>
        </p:txBody>
      </p:sp>
      <p:sp>
        <p:nvSpPr>
          <p:cNvPr id="21" name="Text 18">
            <a:extLst xmlns:a="http://schemas.openxmlformats.org/drawingml/2006/main">
              <a:ext uri="{FF2B5EF4-FFF2-40B4-BE49-F238E27FC236}">
                <a16:creationId xmlns:a16="http://schemas.microsoft.com/office/drawing/2014/main" id="{2A1953D1-3E47-4197-A39A-633B31EEFB24}"/>
              </a:ext>
            </a:extLst>
          </p:cNvPr>
          <p:cNvSpPr>
            <a:spLocks xmlns:a="http://schemas.openxmlformats.org/drawingml/2006/main" noGrp="1"/>
          </p:cNvSpPr>
          <p:nvPr/>
        </p:nvSpPr>
        <p:spPr>
          <a:xfrm xmlns:a="http://schemas.openxmlformats.org/drawingml/2006/main">
            <a:off x="3840480" y="3200400"/>
            <a:ext cx="19202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72A"/>
                </a:solidFill>
                <a:latin typeface="Calibri"/>
                <a:ea typeface="Calibri"/>
                <a:cs typeface="Calibri"/>
              </a:rPr>
              <a:t>Convex persists the answer and computed feedback</a:t>
            </a:r>
            <a:endParaRPr sz="1300"/>
          </a:p>
        </p:txBody>
      </p:sp>
      <p:sp>
        <p:nvSpPr>
          <p:cNvPr id="22" name="Shape 19">
            <a:extLst xmlns:a="http://schemas.openxmlformats.org/drawingml/2006/main">
              <a:ext uri="{FF2B5EF4-FFF2-40B4-BE49-F238E27FC236}">
                <a16:creationId xmlns:a16="http://schemas.microsoft.com/office/drawing/2014/main" id="{FD03E3AE-D644-4451-BFAB-2F5F26D3C81F}"/>
              </a:ext>
            </a:extLst>
          </p:cNvPr>
          <p:cNvSpPr>
            <a:spLocks xmlns:a="http://schemas.openxmlformats.org/drawingml/2006/main" noGrp="1"/>
          </p:cNvSpPr>
          <p:nvPr/>
        </p:nvSpPr>
        <p:spPr>
          <a:xfrm xmlns:a="http://schemas.openxmlformats.org/drawingml/2006/main">
            <a:off x="6126480" y="3108960"/>
            <a:ext cx="2560320" cy="1143000"/>
          </a:xfrm>
          <a:prstGeom xmlns:a="http://schemas.openxmlformats.org/drawingml/2006/main" prst="roundRect">
            <a:avLst>
              <a:gd name="adj" fmla="val 6400"/>
            </a:avLst>
          </a:prstGeom>
          <a:solidFill xmlns:a="http://schemas.openxmlformats.org/drawingml/2006/main">
            <a:srgbClr val="F8FAFC"/>
          </a:solidFill>
          <a:ln xmlns:a="http://schemas.openxmlformats.org/drawingml/2006/main" w="12700">
            <a:solidFill>
              <a:srgbClr val="CBD5E1"/>
            </a:solidFill>
            <a:prstDash val="solid"/>
          </a:ln>
        </p:spPr>
      </p:sp>
      <p:sp>
        <p:nvSpPr>
          <p:cNvPr id="23" name="Text 20">
            <a:extLst xmlns:a="http://schemas.openxmlformats.org/drawingml/2006/main">
              <a:ext uri="{FF2B5EF4-FFF2-40B4-BE49-F238E27FC236}">
                <a16:creationId xmlns:a16="http://schemas.microsoft.com/office/drawing/2014/main" id="{8905872B-F082-46B0-8804-27B0B8DAF3B9}"/>
              </a:ext>
            </a:extLst>
          </p:cNvPr>
          <p:cNvSpPr>
            <a:spLocks xmlns:a="http://schemas.openxmlformats.org/drawingml/2006/main" noGrp="1"/>
          </p:cNvSpPr>
          <p:nvPr/>
        </p:nvSpPr>
        <p:spPr>
          <a:xfrm xmlns:a="http://schemas.openxmlformats.org/drawingml/2006/main">
            <a:off x="6263640" y="320040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3730A3"/>
                </a:solidFill>
                <a:latin typeface="Calibri"/>
                <a:ea typeface="Calibri"/>
                <a:cs typeface="Calibri"/>
              </a:rPr>
              <a:t>6</a:t>
            </a:r>
            <a:endParaRPr sz="2000"/>
          </a:p>
        </p:txBody>
      </p:sp>
      <p:sp>
        <p:nvSpPr>
          <p:cNvPr id="24" name="Text 21">
            <a:extLst xmlns:a="http://schemas.openxmlformats.org/drawingml/2006/main">
              <a:ext uri="{FF2B5EF4-FFF2-40B4-BE49-F238E27FC236}">
                <a16:creationId xmlns:a16="http://schemas.microsoft.com/office/drawing/2014/main" id="{2B184D00-8824-4B36-B0D9-3EEC09EB3A26}"/>
              </a:ext>
            </a:extLst>
          </p:cNvPr>
          <p:cNvSpPr>
            <a:spLocks xmlns:a="http://schemas.openxmlformats.org/drawingml/2006/main" noGrp="1"/>
          </p:cNvSpPr>
          <p:nvPr/>
        </p:nvSpPr>
        <p:spPr>
          <a:xfrm xmlns:a="http://schemas.openxmlformats.org/drawingml/2006/main">
            <a:off x="6675120" y="3200400"/>
            <a:ext cx="1920240" cy="9601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0F172A"/>
                </a:solidFill>
                <a:latin typeface="Calibri"/>
                <a:ea typeface="Calibri"/>
                <a:cs typeface="Calibri"/>
              </a:rPr>
              <a:t>Feedback follows mode; finished sessions produce a report</a:t>
            </a:r>
            <a:endParaRPr sz="1300"/>
          </a:p>
        </p:txBody>
      </p:sp>
      <p:sp>
        <p:nvSpPr>
          <p:cNvPr id="25" name="Text 22">
            <a:extLst xmlns:a="http://schemas.openxmlformats.org/drawingml/2006/main">
              <a:ext uri="{FF2B5EF4-FFF2-40B4-BE49-F238E27FC236}">
                <a16:creationId xmlns:a16="http://schemas.microsoft.com/office/drawing/2014/main" id="{0BDCE5A0-1E23-4BED-9294-BAF3A641B992}"/>
              </a:ext>
            </a:extLst>
          </p:cNvPr>
          <p:cNvSpPr>
            <a:spLocks xmlns:a="http://schemas.openxmlformats.org/drawingml/2006/main" noGrp="1"/>
          </p:cNvSpPr>
          <p:nvPr/>
        </p:nvSpPr>
        <p:spPr>
          <a:xfrm xmlns:a="http://schemas.openxmlformats.org/drawingml/2006/main">
            <a:off x="457200" y="434340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i="1">
                <a:solidFill>
                  <a:srgbClr val="475569"/>
                </a:solidFill>
                <a:latin typeface="Calibri"/>
                <a:ea typeface="Calibri"/>
                <a:cs typeface="Calibri"/>
              </a:rPr>
              <a:t>No AI-provider request occurs in this release. Authentication and persistence require internet.</a:t>
            </a:r>
            <a:endParaRPr sz="1200"/>
          </a:p>
        </p:txBody>
      </p:sp>
    </p:spTree>
    <p:extLst>
      <p:ext uri="{BB962C8B-B14F-4D97-AF65-F5344CB8AC3E}">
        <p14:creationId xmlns:p14="http://schemas.microsoft.com/office/powerpoint/2010/main" val="12988453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3CEC4D4-3CE3-49FF-A003-29FC9072E3B1}"/>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8E417C34-4C41-4B13-A676-6055111A4E2A}"/>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AI INTEGRATION STATUS</a:t>
            </a:r>
            <a:endParaRPr sz="1200"/>
          </a:p>
        </p:txBody>
      </p:sp>
      <p:sp>
        <p:nvSpPr>
          <p:cNvPr id="4" name="Text 2">
            <a:extLst xmlns:a="http://schemas.openxmlformats.org/drawingml/2006/main">
              <a:ext uri="{FF2B5EF4-FFF2-40B4-BE49-F238E27FC236}">
                <a16:creationId xmlns:a16="http://schemas.microsoft.com/office/drawing/2014/main" id="{FA9AB203-8E3F-4DA3-B7FF-2F98A6FFED23}"/>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Why live Gemini is not connected</a:t>
            </a:r>
            <a:endParaRPr sz="2800"/>
          </a:p>
        </p:txBody>
      </p:sp>
      <p:sp>
        <p:nvSpPr>
          <p:cNvPr id="5" name="Text 3">
            <a:extLst xmlns:a="http://schemas.openxmlformats.org/drawingml/2006/main">
              <a:ext uri="{FF2B5EF4-FFF2-40B4-BE49-F238E27FC236}">
                <a16:creationId xmlns:a16="http://schemas.microsoft.com/office/drawing/2014/main" id="{84AD380A-5CB1-4543-8EE3-1EAC7198BE81}"/>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11</a:t>
            </a:r>
            <a:endParaRPr sz="1000"/>
          </a:p>
        </p:txBody>
      </p:sp>
      <p:sp>
        <p:nvSpPr>
          <p:cNvPr id="7" name="Shape 4">
            <a:extLst xmlns:a="http://schemas.openxmlformats.org/drawingml/2006/main">
              <a:ext uri="{FF2B5EF4-FFF2-40B4-BE49-F238E27FC236}">
                <a16:creationId xmlns:a16="http://schemas.microsoft.com/office/drawing/2014/main" id="{82A7650E-479F-4819-9E3F-FBC97AFF4682}"/>
              </a:ext>
            </a:extLst>
          </p:cNvPr>
          <p:cNvSpPr>
            <a:spLocks xmlns:a="http://schemas.openxmlformats.org/drawingml/2006/main" noGrp="1"/>
          </p:cNvSpPr>
          <p:nvPr/>
        </p:nvSpPr>
        <p:spPr>
          <a:xfrm xmlns:a="http://schemas.openxmlformats.org/drawingml/2006/main">
            <a:off x="457200" y="1554480"/>
            <a:ext cx="2194560" cy="1188720"/>
          </a:xfrm>
          <a:prstGeom xmlns:a="http://schemas.openxmlformats.org/drawingml/2006/main" prst="roundRect">
            <a:avLst>
              <a:gd name="adj" fmla="val 6154"/>
            </a:avLst>
          </a:prstGeom>
          <a:solidFill xmlns:a="http://schemas.openxmlformats.org/drawingml/2006/main">
            <a:srgbClr val="EEF2FF"/>
          </a:solidFill>
          <a:ln xmlns:a="http://schemas.openxmlformats.org/drawingml/2006/main" w="12700">
            <a:solidFill>
              <a:srgbClr val="3730A3"/>
            </a:solidFill>
            <a:prstDash val="solid"/>
          </a:ln>
        </p:spPr>
      </p:sp>
      <p:sp>
        <p:nvSpPr>
          <p:cNvPr id="8" name="Text 5">
            <a:extLst xmlns:a="http://schemas.openxmlformats.org/drawingml/2006/main">
              <a:ext uri="{FF2B5EF4-FFF2-40B4-BE49-F238E27FC236}">
                <a16:creationId xmlns:a16="http://schemas.microsoft.com/office/drawing/2014/main" id="{F4D23C0C-6944-4B05-990D-0E820E376AC9}"/>
              </a:ext>
            </a:extLst>
          </p:cNvPr>
          <p:cNvSpPr>
            <a:spLocks xmlns:a="http://schemas.openxmlformats.org/drawingml/2006/main" noGrp="1"/>
          </p:cNvSpPr>
          <p:nvPr/>
        </p:nvSpPr>
        <p:spPr>
          <a:xfrm xmlns:a="http://schemas.openxmlformats.org/drawingml/2006/main">
            <a:off x="457200" y="1554480"/>
            <a:ext cx="21945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3730A3"/>
                </a:solidFill>
                <a:latin typeface="Calibri"/>
                <a:ea typeface="Calibri"/>
                <a:cs typeface="Calibri"/>
              </a:rPr>
              <a:t>No provider API key</a:t>
            </a:r>
            <a:endParaRPr sz="1400"/>
          </a:p>
          <a:p xmlns:a="http://schemas.openxmlformats.org/drawingml/2006/main">
            <a:pPr marL="0" indent="0" algn="ctr">
              <a:buNone/>
            </a:pPr>
            <a:r>
              <a:rPr sz="1400">
                <a:solidFill>
                  <a:srgbClr val="3730A3"/>
                </a:solidFill>
                <a:latin typeface="Calibri"/>
                <a:ea typeface="Calibri"/>
                <a:cs typeface="Calibri"/>
              </a:rPr>
              <a:t>No live request validated</a:t>
            </a:r>
            <a:endParaRPr sz="1400"/>
          </a:p>
        </p:txBody>
      </p:sp>
      <p:sp>
        <p:nvSpPr>
          <p:cNvPr id="9" name="Shape 6">
            <a:extLst xmlns:a="http://schemas.openxmlformats.org/drawingml/2006/main">
              <a:ext uri="{FF2B5EF4-FFF2-40B4-BE49-F238E27FC236}">
                <a16:creationId xmlns:a16="http://schemas.microsoft.com/office/drawing/2014/main" id="{8EB14699-D075-4736-97ED-514DE6E68040}"/>
              </a:ext>
            </a:extLst>
          </p:cNvPr>
          <p:cNvSpPr>
            <a:spLocks xmlns:a="http://schemas.openxmlformats.org/drawingml/2006/main" noGrp="1"/>
          </p:cNvSpPr>
          <p:nvPr/>
        </p:nvSpPr>
        <p:spPr>
          <a:xfrm xmlns:a="http://schemas.openxmlformats.org/drawingml/2006/main">
            <a:off x="3474720" y="1554480"/>
            <a:ext cx="2194560" cy="1188720"/>
          </a:xfrm>
          <a:prstGeom xmlns:a="http://schemas.openxmlformats.org/drawingml/2006/main" prst="roundRect">
            <a:avLst>
              <a:gd name="adj" fmla="val 6154"/>
            </a:avLst>
          </a:prstGeom>
          <a:solidFill xmlns:a="http://schemas.openxmlformats.org/drawingml/2006/main">
            <a:srgbClr val="3730A3"/>
          </a:solidFill>
        </p:spPr>
      </p:sp>
      <p:sp>
        <p:nvSpPr>
          <p:cNvPr id="10" name="Text 7">
            <a:extLst xmlns:a="http://schemas.openxmlformats.org/drawingml/2006/main">
              <a:ext uri="{FF2B5EF4-FFF2-40B4-BE49-F238E27FC236}">
                <a16:creationId xmlns:a16="http://schemas.microsoft.com/office/drawing/2014/main" id="{86F255B6-4EB8-4160-A982-73CFC89A1BD4}"/>
              </a:ext>
            </a:extLst>
          </p:cNvPr>
          <p:cNvSpPr>
            <a:spLocks xmlns:a="http://schemas.openxmlformats.org/drawingml/2006/main" noGrp="1"/>
          </p:cNvSpPr>
          <p:nvPr/>
        </p:nvSpPr>
        <p:spPr>
          <a:xfrm xmlns:a="http://schemas.openxmlformats.org/drawingml/2006/main">
            <a:off x="3474720" y="1554480"/>
            <a:ext cx="21945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libri"/>
                <a:ea typeface="Calibri"/>
                <a:cs typeface="Calibri"/>
              </a:rPr>
              <a:t>Current prototype</a:t>
            </a:r>
            <a:endParaRPr sz="1400"/>
          </a:p>
          <a:p xmlns:a="http://schemas.openxmlformats.org/drawingml/2006/main">
            <a:pPr marL="0" indent="0" algn="ctr">
              <a:buNone/>
            </a:pPr>
            <a:r>
              <a:rPr sz="1400">
                <a:solidFill>
                  <a:srgbClr val="FFFFFF"/>
                </a:solidFill>
                <a:latin typeface="Calibri"/>
                <a:ea typeface="Calibri"/>
                <a:cs typeface="Calibri"/>
              </a:rPr>
              <a:t>Illustrative heuristic</a:t>
            </a:r>
            <a:endParaRPr sz="1400"/>
          </a:p>
        </p:txBody>
      </p:sp>
      <p:sp>
        <p:nvSpPr>
          <p:cNvPr id="11" name="Shape 8">
            <a:extLst xmlns:a="http://schemas.openxmlformats.org/drawingml/2006/main">
              <a:ext uri="{FF2B5EF4-FFF2-40B4-BE49-F238E27FC236}">
                <a16:creationId xmlns:a16="http://schemas.microsoft.com/office/drawing/2014/main" id="{D0C24106-822D-4D64-8532-49D8D309FED5}"/>
              </a:ext>
            </a:extLst>
          </p:cNvPr>
          <p:cNvSpPr>
            <a:spLocks xmlns:a="http://schemas.openxmlformats.org/drawingml/2006/main" noGrp="1"/>
          </p:cNvSpPr>
          <p:nvPr/>
        </p:nvSpPr>
        <p:spPr>
          <a:xfrm xmlns:a="http://schemas.openxmlformats.org/drawingml/2006/main">
            <a:off x="6492240" y="1554480"/>
            <a:ext cx="2194560" cy="1188720"/>
          </a:xfrm>
          <a:prstGeom xmlns:a="http://schemas.openxmlformats.org/drawingml/2006/main" prst="roundRect">
            <a:avLst>
              <a:gd name="adj" fmla="val 6154"/>
            </a:avLst>
          </a:prstGeom>
          <a:solidFill xmlns:a="http://schemas.openxmlformats.org/drawingml/2006/main">
            <a:srgbClr val="EEF2FF"/>
          </a:solidFill>
          <a:ln xmlns:a="http://schemas.openxmlformats.org/drawingml/2006/main" w="12700">
            <a:solidFill>
              <a:srgbClr val="3730A3"/>
            </a:solidFill>
            <a:prstDash val="solid"/>
          </a:ln>
        </p:spPr>
      </p:sp>
      <p:sp>
        <p:nvSpPr>
          <p:cNvPr id="12" name="Text 9">
            <a:extLst xmlns:a="http://schemas.openxmlformats.org/drawingml/2006/main">
              <a:ext uri="{FF2B5EF4-FFF2-40B4-BE49-F238E27FC236}">
                <a16:creationId xmlns:a16="http://schemas.microsoft.com/office/drawing/2014/main" id="{0A30B57C-F510-4685-91BA-1735F84A03C3}"/>
              </a:ext>
            </a:extLst>
          </p:cNvPr>
          <p:cNvSpPr>
            <a:spLocks xmlns:a="http://schemas.openxmlformats.org/drawingml/2006/main" noGrp="1"/>
          </p:cNvSpPr>
          <p:nvPr/>
        </p:nvSpPr>
        <p:spPr>
          <a:xfrm xmlns:a="http://schemas.openxmlformats.org/drawingml/2006/main">
            <a:off x="6492240" y="1554480"/>
            <a:ext cx="21945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3730A3"/>
                </a:solidFill>
                <a:latin typeface="Calibri"/>
                <a:ea typeface="Calibri"/>
                <a:cs typeface="Calibri"/>
              </a:rPr>
              <a:t>Next step</a:t>
            </a:r>
            <a:endParaRPr sz="1300"/>
          </a:p>
          <a:p xmlns:a="http://schemas.openxmlformats.org/drawingml/2006/main">
            <a:pPr marL="0" indent="0" algn="ctr">
              <a:buNone/>
            </a:pPr>
            <a:r>
              <a:rPr sz="1300">
                <a:solidFill>
                  <a:srgbClr val="3730A3"/>
                </a:solidFill>
                <a:latin typeface="Calibri"/>
                <a:ea typeface="Calibri"/>
                <a:cs typeface="Calibri"/>
              </a:rPr>
              <a:t>Supported Gemini model</a:t>
            </a:r>
            <a:endParaRPr sz="1300"/>
          </a:p>
        </p:txBody>
      </p:sp>
      <p:sp>
        <p:nvSpPr>
          <p:cNvPr id="13" name="Shape 10">
            <a:extLst xmlns:a="http://schemas.openxmlformats.org/drawingml/2006/main">
              <a:ext uri="{FF2B5EF4-FFF2-40B4-BE49-F238E27FC236}">
                <a16:creationId xmlns:a16="http://schemas.microsoft.com/office/drawing/2014/main" id="{28BAECE4-8569-4D7D-8EE4-06475791157A}"/>
              </a:ext>
            </a:extLst>
          </p:cNvPr>
          <p:cNvSpPr>
            <a:spLocks xmlns:a="http://schemas.openxmlformats.org/drawingml/2006/main" noGrp="1"/>
          </p:cNvSpPr>
          <p:nvPr/>
        </p:nvSpPr>
        <p:spPr>
          <a:xfrm xmlns:a="http://schemas.openxmlformats.org/drawingml/2006/main">
            <a:off x="2651760" y="2148840"/>
            <a:ext cx="822960" cy="0"/>
          </a:xfrm>
          <a:prstGeom xmlns:a="http://schemas.openxmlformats.org/drawingml/2006/main" prst="line">
            <a:avLst/>
          </a:prstGeom>
          <a:noFill xmlns:a="http://schemas.openxmlformats.org/drawingml/2006/main"/>
          <a:ln xmlns:a="http://schemas.openxmlformats.org/drawingml/2006/main" w="19050">
            <a:solidFill>
              <a:srgbClr val="3730A3"/>
            </a:solidFill>
            <a:prstDash val="solid"/>
            <a:tailEnd type="triangle"/>
          </a:ln>
        </p:spPr>
      </p:sp>
      <p:sp>
        <p:nvSpPr>
          <p:cNvPr id="14" name="Shape 11">
            <a:extLst xmlns:a="http://schemas.openxmlformats.org/drawingml/2006/main">
              <a:ext uri="{FF2B5EF4-FFF2-40B4-BE49-F238E27FC236}">
                <a16:creationId xmlns:a16="http://schemas.microsoft.com/office/drawing/2014/main" id="{16D06019-1D13-43B8-92E2-0D05ACACF0AD}"/>
              </a:ext>
            </a:extLst>
          </p:cNvPr>
          <p:cNvSpPr>
            <a:spLocks xmlns:a="http://schemas.openxmlformats.org/drawingml/2006/main" noGrp="1"/>
          </p:cNvSpPr>
          <p:nvPr/>
        </p:nvSpPr>
        <p:spPr>
          <a:xfrm xmlns:a="http://schemas.openxmlformats.org/drawingml/2006/main">
            <a:off x="5669280" y="2148840"/>
            <a:ext cx="822960" cy="0"/>
          </a:xfrm>
          <a:prstGeom xmlns:a="http://schemas.openxmlformats.org/drawingml/2006/main" prst="line">
            <a:avLst/>
          </a:prstGeom>
          <a:noFill xmlns:a="http://schemas.openxmlformats.org/drawingml/2006/main"/>
          <a:ln xmlns:a="http://schemas.openxmlformats.org/drawingml/2006/main" w="19050">
            <a:solidFill>
              <a:srgbClr val="3730A3"/>
            </a:solidFill>
            <a:prstDash val="solid"/>
            <a:tailEnd type="triangle"/>
          </a:ln>
        </p:spPr>
      </p:sp>
      <p:sp>
        <p:nvSpPr>
          <p:cNvPr id="15" name="Text 12">
            <a:extLst xmlns:a="http://schemas.openxmlformats.org/drawingml/2006/main">
              <a:ext uri="{FF2B5EF4-FFF2-40B4-BE49-F238E27FC236}">
                <a16:creationId xmlns:a16="http://schemas.microsoft.com/office/drawing/2014/main" id="{92E90D6A-E867-44E6-8415-A354D59D9E18}"/>
              </a:ext>
            </a:extLst>
          </p:cNvPr>
          <p:cNvSpPr>
            <a:spLocks xmlns:a="http://schemas.openxmlformats.org/drawingml/2006/main" noGrp="1"/>
          </p:cNvSpPr>
          <p:nvPr/>
        </p:nvSpPr>
        <p:spPr>
          <a:xfrm xmlns:a="http://schemas.openxmlformats.org/drawingml/2006/main">
            <a:off x="457200" y="301752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730A3"/>
                </a:solidFill>
                <a:latin typeface="Calibri"/>
                <a:ea typeface="Calibri"/>
                <a:cs typeface="Calibri"/>
              </a:rPr>
              <a:t>What we can honestly explain</a:t>
            </a:r>
            <a:endParaRPr sz="1600"/>
          </a:p>
        </p:txBody>
      </p:sp>
      <p:sp>
        <p:nvSpPr>
          <p:cNvPr id="16" name="Text 13">
            <a:extLst xmlns:a="http://schemas.openxmlformats.org/drawingml/2006/main">
              <a:ext uri="{FF2B5EF4-FFF2-40B4-BE49-F238E27FC236}">
                <a16:creationId xmlns:a16="http://schemas.microsoft.com/office/drawing/2014/main" id="{D5F92428-D3D8-4062-9746-7EFC33F4A302}"/>
              </a:ext>
            </a:extLst>
          </p:cNvPr>
          <p:cNvSpPr>
            <a:spLocks xmlns:a="http://schemas.openxmlformats.org/drawingml/2006/main" noGrp="1"/>
          </p:cNvSpPr>
          <p:nvPr/>
        </p:nvSpPr>
        <p:spPr>
          <a:xfrm xmlns:a="http://schemas.openxmlformats.org/drawingml/2006/main">
            <a:off x="457200" y="3381375"/>
            <a:ext cx="8229600" cy="952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No Gemini key was supplied, so live AI could not be connected and tested.</a:t>
            </a:r>
            <a:endParaRPr sz="1500"/>
          </a:p>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Google lists June 1, 2026 as Gemini 2.0 Flash’s shutdown date.</a:t>
            </a:r>
            <a:endParaRPr sz="1500"/>
          </a:p>
        </p:txBody>
      </p:sp>
      <p:sp>
        <p:nvSpPr>
          <p:cNvPr id="17" name="AI-source">
            <a:extLst xmlns:a="http://schemas.openxmlformats.org/drawingml/2006/main">
              <a:ext uri="{FF2B5EF4-FFF2-40B4-BE49-F238E27FC236}">
                <a16:creationId xmlns:a16="http://schemas.microsoft.com/office/drawing/2014/main" id="{62B19B74-DBC5-4374-8239-9D186A294846}"/>
              </a:ext>
            </a:extLst>
          </p:cNvPr>
          <p:cNvSpPr>
            <a:spLocks xmlns:a="http://schemas.openxmlformats.org/drawingml/2006/main" noGrp="1"/>
          </p:cNvSpPr>
          <p:nvPr/>
        </p:nvSpPr>
        <p:spPr>
          <a:xfrm xmlns:a="http://schemas.openxmlformats.org/drawingml/2006/main">
            <a:off x="457200" y="4400550"/>
            <a:ext cx="8229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1000">
                <a:solidFill>
                  <a:srgbClr val="475569"/>
                </a:solidFill>
                <a:latin typeface="Calibri"/>
                <a:ea typeface="Calibri"/>
                <a:cs typeface="Calibri"/>
              </a:defRPr>
            </a:defPPr>
          </a:lstStyle>
          <a:p xmlns:a="http://schemas.openxmlformats.org/drawingml/2006/main">
            <a:pPr>
              <a:defRPr sz="1000">
                <a:solidFill>
                  <a:srgbClr val="475569"/>
                </a:solidFill>
                <a:latin typeface="Calibri"/>
                <a:ea typeface="Calibri"/>
                <a:cs typeface="Calibri"/>
              </a:defRPr>
            </a:pPr>
            <a:r>
              <a:rPr sz="1000">
                <a:solidFill>
                  <a:srgbClr val="475569"/>
                </a:solidFill>
                <a:latin typeface="Calibri"/>
                <a:ea typeface="Calibri"/>
                <a:cs typeface="Calibri"/>
              </a:rPr>
              <a:t>Google Gemini API docs, checked 11 Oct 2026. Links and speaking answer in presenter notes.</a:t>
            </a:r>
          </a:p>
        </p:txBody>
      </p:sp>
    </p:spTree>
    <p:extLst>
      <p:ext uri="{BB962C8B-B14F-4D97-AF65-F5344CB8AC3E}">
        <p14:creationId xmlns:p14="http://schemas.microsoft.com/office/powerpoint/2010/main" val="5268150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E60BEC1-8B98-4E7A-BC26-2DA5D4A2D5E3}"/>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8F1F07E3-CDDF-4871-9770-B1040F72A5A3}"/>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SCORING DESIGN</a:t>
            </a:r>
            <a:endParaRPr sz="1200"/>
          </a:p>
        </p:txBody>
      </p:sp>
      <p:sp>
        <p:nvSpPr>
          <p:cNvPr id="4" name="Text 2">
            <a:extLst xmlns:a="http://schemas.openxmlformats.org/drawingml/2006/main">
              <a:ext uri="{FF2B5EF4-FFF2-40B4-BE49-F238E27FC236}">
                <a16:creationId xmlns:a16="http://schemas.microsoft.com/office/drawing/2014/main" id="{B0AA00EC-C00B-4028-AFEA-520343E478A0}"/>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Current evaluator and the next AI milestone</a:t>
            </a:r>
            <a:endParaRPr sz="2800"/>
          </a:p>
        </p:txBody>
      </p:sp>
      <p:sp>
        <p:nvSpPr>
          <p:cNvPr id="5" name="Text 3">
            <a:extLst xmlns:a="http://schemas.openxmlformats.org/drawingml/2006/main">
              <a:ext uri="{FF2B5EF4-FFF2-40B4-BE49-F238E27FC236}">
                <a16:creationId xmlns:a16="http://schemas.microsoft.com/office/drawing/2014/main" id="{C9623EA4-06A1-41C8-9286-3B5D6A18540B}"/>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12</a:t>
            </a:r>
            <a:endParaRPr sz="1000"/>
          </a:p>
        </p:txBody>
      </p:sp>
      <p:sp>
        <p:nvSpPr>
          <p:cNvPr id="7" name="Shape 4">
            <a:extLst xmlns:a="http://schemas.openxmlformats.org/drawingml/2006/main">
              <a:ext uri="{FF2B5EF4-FFF2-40B4-BE49-F238E27FC236}">
                <a16:creationId xmlns:a16="http://schemas.microsoft.com/office/drawing/2014/main" id="{81B68B5D-F4FB-4B1A-80AA-19C4CA5B0BBB}"/>
              </a:ext>
            </a:extLst>
          </p:cNvPr>
          <p:cNvSpPr>
            <a:spLocks xmlns:a="http://schemas.openxmlformats.org/drawingml/2006/main" noGrp="1"/>
          </p:cNvSpPr>
          <p:nvPr/>
        </p:nvSpPr>
        <p:spPr>
          <a:xfrm xmlns:a="http://schemas.openxmlformats.org/drawingml/2006/main">
            <a:off x="457200" y="1463040"/>
            <a:ext cx="3931920" cy="3017520"/>
          </a:xfrm>
          <a:prstGeom xmlns:a="http://schemas.openxmlformats.org/drawingml/2006/main" prst="roundRect">
            <a:avLst>
              <a:gd name="adj" fmla="val 2424"/>
            </a:avLst>
          </a:prstGeom>
          <a:solidFill xmlns:a="http://schemas.openxmlformats.org/drawingml/2006/main">
            <a:srgbClr val="EEF2FF"/>
          </a:solidFill>
        </p:spPr>
      </p:sp>
      <p:sp>
        <p:nvSpPr>
          <p:cNvPr id="8" name="Text 5">
            <a:extLst xmlns:a="http://schemas.openxmlformats.org/drawingml/2006/main">
              <a:ext uri="{FF2B5EF4-FFF2-40B4-BE49-F238E27FC236}">
                <a16:creationId xmlns:a16="http://schemas.microsoft.com/office/drawing/2014/main" id="{EE4F6836-5948-4E8C-8E5B-A7BB041F4BF2}"/>
              </a:ext>
            </a:extLst>
          </p:cNvPr>
          <p:cNvSpPr>
            <a:spLocks xmlns:a="http://schemas.openxmlformats.org/drawingml/2006/main" noGrp="1"/>
          </p:cNvSpPr>
          <p:nvPr/>
        </p:nvSpPr>
        <p:spPr>
          <a:xfrm xmlns:a="http://schemas.openxmlformats.org/drawingml/2006/main">
            <a:off x="640080" y="160020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3730A3"/>
                </a:solidFill>
                <a:latin typeface="Calibri"/>
                <a:ea typeface="Calibri"/>
                <a:cs typeface="Calibri"/>
              </a:rPr>
              <a:t>Implemented now</a:t>
            </a:r>
            <a:endParaRPr sz="1800"/>
          </a:p>
        </p:txBody>
      </p:sp>
      <p:sp>
        <p:nvSpPr>
          <p:cNvPr id="9" name="Text 6">
            <a:extLst xmlns:a="http://schemas.openxmlformats.org/drawingml/2006/main">
              <a:ext uri="{FF2B5EF4-FFF2-40B4-BE49-F238E27FC236}">
                <a16:creationId xmlns:a16="http://schemas.microsoft.com/office/drawing/2014/main" id="{43A2DA93-C6DC-4122-80A4-1407C220564C}"/>
              </a:ext>
            </a:extLst>
          </p:cNvPr>
          <p:cNvSpPr>
            <a:spLocks xmlns:a="http://schemas.openxmlformats.org/drawingml/2006/main" noGrp="1"/>
          </p:cNvSpPr>
          <p:nvPr/>
        </p:nvSpPr>
        <p:spPr>
          <a:xfrm xmlns:a="http://schemas.openxmlformats.org/drawingml/2006/main">
            <a:off x="640080" y="2103120"/>
            <a:ext cx="356616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Structure / keyword-based signals; no factual verification</a:t>
            </a:r>
            <a:endParaRPr sz="1500"/>
          </a:p>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Mode-aware feedback and curated example answers</a:t>
            </a:r>
            <a:endParaRPr sz="1500"/>
          </a:p>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Deterministic averages and readiness thresholds</a:t>
            </a:r>
            <a:endParaRPr sz="1500"/>
          </a:p>
        </p:txBody>
      </p:sp>
      <p:sp>
        <p:nvSpPr>
          <p:cNvPr id="10" name="Shape 7">
            <a:extLst xmlns:a="http://schemas.openxmlformats.org/drawingml/2006/main">
              <a:ext uri="{FF2B5EF4-FFF2-40B4-BE49-F238E27FC236}">
                <a16:creationId xmlns:a16="http://schemas.microsoft.com/office/drawing/2014/main" id="{BF0961A7-69D3-40FB-B33A-2C3F04E190FC}"/>
              </a:ext>
            </a:extLst>
          </p:cNvPr>
          <p:cNvSpPr>
            <a:spLocks xmlns:a="http://schemas.openxmlformats.org/drawingml/2006/main" noGrp="1"/>
          </p:cNvSpPr>
          <p:nvPr/>
        </p:nvSpPr>
        <p:spPr>
          <a:xfrm xmlns:a="http://schemas.openxmlformats.org/drawingml/2006/main">
            <a:off x="4754880" y="1463040"/>
            <a:ext cx="3931920" cy="3017520"/>
          </a:xfrm>
          <a:prstGeom xmlns:a="http://schemas.openxmlformats.org/drawingml/2006/main" prst="roundRect">
            <a:avLst>
              <a:gd name="adj" fmla="val 2424"/>
            </a:avLst>
          </a:prstGeom>
          <a:solidFill xmlns:a="http://schemas.openxmlformats.org/drawingml/2006/main">
            <a:srgbClr val="F8FAFC"/>
          </a:solidFill>
          <a:ln xmlns:a="http://schemas.openxmlformats.org/drawingml/2006/main" w="12700">
            <a:solidFill>
              <a:srgbClr val="CBD5E1"/>
            </a:solidFill>
            <a:prstDash val="solid"/>
          </a:ln>
        </p:spPr>
      </p:sp>
      <p:sp>
        <p:nvSpPr>
          <p:cNvPr id="11" name="Text 8">
            <a:extLst xmlns:a="http://schemas.openxmlformats.org/drawingml/2006/main">
              <a:ext uri="{FF2B5EF4-FFF2-40B4-BE49-F238E27FC236}">
                <a16:creationId xmlns:a16="http://schemas.microsoft.com/office/drawing/2014/main" id="{B2EF4B08-E1E1-415E-AF1F-E0A2A7B28781}"/>
              </a:ext>
            </a:extLst>
          </p:cNvPr>
          <p:cNvSpPr>
            <a:spLocks xmlns:a="http://schemas.openxmlformats.org/drawingml/2006/main" noGrp="1"/>
          </p:cNvSpPr>
          <p:nvPr/>
        </p:nvSpPr>
        <p:spPr>
          <a:xfrm xmlns:a="http://schemas.openxmlformats.org/drawingml/2006/main">
            <a:off x="4937760" y="1600200"/>
            <a:ext cx="36576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rgbClr val="3730A3"/>
                </a:solidFill>
                <a:latin typeface="Calibri"/>
                <a:ea typeface="Calibri"/>
                <a:cs typeface="Calibri"/>
              </a:rPr>
              <a:t>Required for live AI</a:t>
            </a:r>
            <a:endParaRPr sz="1800"/>
          </a:p>
        </p:txBody>
      </p:sp>
      <p:sp>
        <p:nvSpPr>
          <p:cNvPr id="12" name="Text 9">
            <a:extLst xmlns:a="http://schemas.openxmlformats.org/drawingml/2006/main">
              <a:ext uri="{FF2B5EF4-FFF2-40B4-BE49-F238E27FC236}">
                <a16:creationId xmlns:a16="http://schemas.microsoft.com/office/drawing/2014/main" id="{5345E410-65E6-4FED-81B2-B34C67EB839D}"/>
              </a:ext>
            </a:extLst>
          </p:cNvPr>
          <p:cNvSpPr>
            <a:spLocks xmlns:a="http://schemas.openxmlformats.org/drawingml/2006/main" noGrp="1"/>
          </p:cNvSpPr>
          <p:nvPr/>
        </p:nvSpPr>
        <p:spPr>
          <a:xfrm xmlns:a="http://schemas.openxmlformats.org/drawingml/2006/main">
            <a:off x="4937760" y="2103120"/>
            <a:ext cx="356616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Server-only credential and a supported Gemini model</a:t>
            </a:r>
            <a:endParaRPr sz="1500"/>
          </a:p>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Structured-output validation, rate limits, and error handling</a:t>
            </a:r>
            <a:endParaRPr sz="1500"/>
          </a:p>
          <a:p xmlns:a="http://schemas.openxmlformats.org/drawingml/2006/main">
            <a:pPr marL="342900" indent="-342900">
              <a:spcAft>
                <a:spcPts val="1000"/>
              </a:spcAft>
              <a:buSzPct val="100000"/>
              <a:buChar char="•"/>
            </a:pPr>
            <a:r>
              <a:rPr sz="1500">
                <a:solidFill>
                  <a:srgbClr val="0F172A"/>
                </a:solidFill>
                <a:latin typeface="Calibri"/>
                <a:ea typeface="Calibri"/>
                <a:cs typeface="Calibri"/>
              </a:rPr>
              <a:t>Quality checks against reviewed example answers</a:t>
            </a:r>
            <a:endParaRPr sz="1500"/>
          </a:p>
        </p:txBody>
      </p:sp>
    </p:spTree>
    <p:extLst>
      <p:ext uri="{BB962C8B-B14F-4D97-AF65-F5344CB8AC3E}">
        <p14:creationId xmlns:p14="http://schemas.microsoft.com/office/powerpoint/2010/main" val="27388301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27F78EE-566C-408C-8987-902CEA2F8074}"/>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BA7FD168-3279-42FD-A557-910453190159}"/>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MARKET AND ECOSYSTEM</a:t>
            </a:r>
            <a:endParaRPr sz="1200"/>
          </a:p>
        </p:txBody>
      </p:sp>
      <p:sp>
        <p:nvSpPr>
          <p:cNvPr id="4" name="Text 2">
            <a:extLst xmlns:a="http://schemas.openxmlformats.org/drawingml/2006/main">
              <a:ext uri="{FF2B5EF4-FFF2-40B4-BE49-F238E27FC236}">
                <a16:creationId xmlns:a16="http://schemas.microsoft.com/office/drawing/2014/main" id="{C843221C-1EC4-41C2-B735-85CA4496B8EC}"/>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Potential fit: students and placement programs</a:t>
            </a:r>
            <a:endParaRPr sz="2800"/>
          </a:p>
        </p:txBody>
      </p:sp>
      <p:sp>
        <p:nvSpPr>
          <p:cNvPr id="5" name="Text 3">
            <a:extLst xmlns:a="http://schemas.openxmlformats.org/drawingml/2006/main">
              <a:ext uri="{FF2B5EF4-FFF2-40B4-BE49-F238E27FC236}">
                <a16:creationId xmlns:a16="http://schemas.microsoft.com/office/drawing/2014/main" id="{6F124C2D-287E-476E-9288-00624694FFFE}"/>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13</a:t>
            </a:r>
            <a:endParaRPr sz="1000"/>
          </a:p>
        </p:txBody>
      </p:sp>
      <p:sp>
        <p:nvSpPr>
          <p:cNvPr id="7" name="Shape 4">
            <a:extLst xmlns:a="http://schemas.openxmlformats.org/drawingml/2006/main">
              <a:ext uri="{FF2B5EF4-FFF2-40B4-BE49-F238E27FC236}">
                <a16:creationId xmlns:a16="http://schemas.microsoft.com/office/drawing/2014/main" id="{11A54ABF-EDAF-4DE2-B08C-0E87937F77C3}"/>
              </a:ext>
            </a:extLst>
          </p:cNvPr>
          <p:cNvSpPr>
            <a:spLocks xmlns:a="http://schemas.openxmlformats.org/drawingml/2006/main" noGrp="1"/>
          </p:cNvSpPr>
          <p:nvPr/>
        </p:nvSpPr>
        <p:spPr>
          <a:xfrm xmlns:a="http://schemas.openxmlformats.org/drawingml/2006/main">
            <a:off x="457200" y="1508760"/>
            <a:ext cx="2377440" cy="594360"/>
          </a:xfrm>
          <a:prstGeom xmlns:a="http://schemas.openxmlformats.org/drawingml/2006/main" prst="roundRect">
            <a:avLst>
              <a:gd name="adj" fmla="val 12308"/>
            </a:avLst>
          </a:prstGeom>
          <a:solidFill xmlns:a="http://schemas.openxmlformats.org/drawingml/2006/main">
            <a:srgbClr val="3730A3"/>
          </a:solidFill>
        </p:spPr>
      </p:sp>
      <p:sp>
        <p:nvSpPr>
          <p:cNvPr id="8" name="Text 5">
            <a:extLst xmlns:a="http://schemas.openxmlformats.org/drawingml/2006/main">
              <a:ext uri="{FF2B5EF4-FFF2-40B4-BE49-F238E27FC236}">
                <a16:creationId xmlns:a16="http://schemas.microsoft.com/office/drawing/2014/main" id="{3B875F7C-1731-4F60-88F1-577F3E9298D6}"/>
              </a:ext>
            </a:extLst>
          </p:cNvPr>
          <p:cNvSpPr>
            <a:spLocks xmlns:a="http://schemas.openxmlformats.org/drawingml/2006/main" noGrp="1"/>
          </p:cNvSpPr>
          <p:nvPr/>
        </p:nvSpPr>
        <p:spPr>
          <a:xfrm xmlns:a="http://schemas.openxmlformats.org/drawingml/2006/main">
            <a:off x="594360" y="1508760"/>
            <a:ext cx="21031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Proposed first users</a:t>
            </a:r>
            <a:endParaRPr sz="1500"/>
          </a:p>
        </p:txBody>
      </p:sp>
      <p:sp>
        <p:nvSpPr>
          <p:cNvPr id="9" name="Shape 6">
            <a:extLst xmlns:a="http://schemas.openxmlformats.org/drawingml/2006/main">
              <a:ext uri="{FF2B5EF4-FFF2-40B4-BE49-F238E27FC236}">
                <a16:creationId xmlns:a16="http://schemas.microsoft.com/office/drawing/2014/main" id="{F25EDDD9-A22A-4B23-BEA9-B3CCAF154E30}"/>
              </a:ext>
            </a:extLst>
          </p:cNvPr>
          <p:cNvSpPr>
            <a:spLocks xmlns:a="http://schemas.openxmlformats.org/drawingml/2006/main" noGrp="1"/>
          </p:cNvSpPr>
          <p:nvPr/>
        </p:nvSpPr>
        <p:spPr>
          <a:xfrm xmlns:a="http://schemas.openxmlformats.org/drawingml/2006/main">
            <a:off x="2926080" y="1508760"/>
            <a:ext cx="5760720" cy="594360"/>
          </a:xfrm>
          <a:prstGeom xmlns:a="http://schemas.openxmlformats.org/drawingml/2006/main" prst="roundRect">
            <a:avLst>
              <a:gd name="adj" fmla="val 12308"/>
            </a:avLst>
          </a:prstGeom>
          <a:solidFill xmlns:a="http://schemas.openxmlformats.org/drawingml/2006/main">
            <a:srgbClr val="F8FAFC"/>
          </a:solidFill>
          <a:ln xmlns:a="http://schemas.openxmlformats.org/drawingml/2006/main" w="12700">
            <a:solidFill>
              <a:srgbClr val="CBD5E1"/>
            </a:solidFill>
            <a:prstDash val="solid"/>
          </a:ln>
        </p:spPr>
      </p:sp>
      <p:sp>
        <p:nvSpPr>
          <p:cNvPr id="10" name="Text 7">
            <a:extLst xmlns:a="http://schemas.openxmlformats.org/drawingml/2006/main">
              <a:ext uri="{FF2B5EF4-FFF2-40B4-BE49-F238E27FC236}">
                <a16:creationId xmlns:a16="http://schemas.microsoft.com/office/drawing/2014/main" id="{6709ACCD-A4CF-4A7B-AC30-8208BD63EB4B}"/>
              </a:ext>
            </a:extLst>
          </p:cNvPr>
          <p:cNvSpPr>
            <a:spLocks xmlns:a="http://schemas.openxmlformats.org/drawingml/2006/main" noGrp="1"/>
          </p:cNvSpPr>
          <p:nvPr/>
        </p:nvSpPr>
        <p:spPr>
          <a:xfrm xmlns:a="http://schemas.openxmlformats.org/drawingml/2006/main">
            <a:off x="3108960" y="1508760"/>
            <a:ext cx="54864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0F172A"/>
                </a:solidFill>
                <a:latin typeface="Calibri"/>
                <a:ea typeface="Calibri"/>
                <a:cs typeface="Calibri"/>
              </a:rPr>
              <a:t>Students in interview preparation and CRT-style programs</a:t>
            </a:r>
            <a:endParaRPr sz="1400"/>
          </a:p>
        </p:txBody>
      </p:sp>
      <p:sp>
        <p:nvSpPr>
          <p:cNvPr id="11" name="Shape 8">
            <a:extLst xmlns:a="http://schemas.openxmlformats.org/drawingml/2006/main">
              <a:ext uri="{FF2B5EF4-FFF2-40B4-BE49-F238E27FC236}">
                <a16:creationId xmlns:a16="http://schemas.microsoft.com/office/drawing/2014/main" id="{3B593BD8-E734-4DEB-903C-9B8DA8510683}"/>
              </a:ext>
            </a:extLst>
          </p:cNvPr>
          <p:cNvSpPr>
            <a:spLocks xmlns:a="http://schemas.openxmlformats.org/drawingml/2006/main" noGrp="1"/>
          </p:cNvSpPr>
          <p:nvPr/>
        </p:nvSpPr>
        <p:spPr>
          <a:xfrm xmlns:a="http://schemas.openxmlformats.org/drawingml/2006/main">
            <a:off x="457200" y="2240280"/>
            <a:ext cx="2377440" cy="594360"/>
          </a:xfrm>
          <a:prstGeom xmlns:a="http://schemas.openxmlformats.org/drawingml/2006/main" prst="roundRect">
            <a:avLst>
              <a:gd name="adj" fmla="val 12308"/>
            </a:avLst>
          </a:prstGeom>
          <a:solidFill xmlns:a="http://schemas.openxmlformats.org/drawingml/2006/main">
            <a:srgbClr val="3730A3"/>
          </a:solidFill>
        </p:spPr>
      </p:sp>
      <p:sp>
        <p:nvSpPr>
          <p:cNvPr id="12" name="Text 9">
            <a:extLst xmlns:a="http://schemas.openxmlformats.org/drawingml/2006/main">
              <a:ext uri="{FF2B5EF4-FFF2-40B4-BE49-F238E27FC236}">
                <a16:creationId xmlns:a16="http://schemas.microsoft.com/office/drawing/2014/main" id="{85863373-7CF4-4058-8B85-D36B72428EC0}"/>
              </a:ext>
            </a:extLst>
          </p:cNvPr>
          <p:cNvSpPr>
            <a:spLocks xmlns:a="http://schemas.openxmlformats.org/drawingml/2006/main" noGrp="1"/>
          </p:cNvSpPr>
          <p:nvPr/>
        </p:nvSpPr>
        <p:spPr>
          <a:xfrm xmlns:a="http://schemas.openxmlformats.org/drawingml/2006/main">
            <a:off x="594360" y="2240280"/>
            <a:ext cx="21031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Potential buyers</a:t>
            </a:r>
            <a:endParaRPr sz="1500"/>
          </a:p>
        </p:txBody>
      </p:sp>
      <p:sp>
        <p:nvSpPr>
          <p:cNvPr id="13" name="Shape 10">
            <a:extLst xmlns:a="http://schemas.openxmlformats.org/drawingml/2006/main">
              <a:ext uri="{FF2B5EF4-FFF2-40B4-BE49-F238E27FC236}">
                <a16:creationId xmlns:a16="http://schemas.microsoft.com/office/drawing/2014/main" id="{D3F09554-61F2-4D6E-9E2F-1FB28BABEED5}"/>
              </a:ext>
            </a:extLst>
          </p:cNvPr>
          <p:cNvSpPr>
            <a:spLocks xmlns:a="http://schemas.openxmlformats.org/drawingml/2006/main" noGrp="1"/>
          </p:cNvSpPr>
          <p:nvPr/>
        </p:nvSpPr>
        <p:spPr>
          <a:xfrm xmlns:a="http://schemas.openxmlformats.org/drawingml/2006/main">
            <a:off x="2926080" y="2240280"/>
            <a:ext cx="5760720" cy="594360"/>
          </a:xfrm>
          <a:prstGeom xmlns:a="http://schemas.openxmlformats.org/drawingml/2006/main" prst="roundRect">
            <a:avLst>
              <a:gd name="adj" fmla="val 12308"/>
            </a:avLst>
          </a:prstGeom>
          <a:solidFill xmlns:a="http://schemas.openxmlformats.org/drawingml/2006/main">
            <a:srgbClr val="F8FAFC"/>
          </a:solidFill>
          <a:ln xmlns:a="http://schemas.openxmlformats.org/drawingml/2006/main" w="12700">
            <a:solidFill>
              <a:srgbClr val="CBD5E1"/>
            </a:solidFill>
            <a:prstDash val="solid"/>
          </a:ln>
        </p:spPr>
      </p:sp>
      <p:sp>
        <p:nvSpPr>
          <p:cNvPr id="14" name="Text 11">
            <a:extLst xmlns:a="http://schemas.openxmlformats.org/drawingml/2006/main">
              <a:ext uri="{FF2B5EF4-FFF2-40B4-BE49-F238E27FC236}">
                <a16:creationId xmlns:a16="http://schemas.microsoft.com/office/drawing/2014/main" id="{AC331AD7-B819-46E4-8C2D-8EBB57C7998F}"/>
              </a:ext>
            </a:extLst>
          </p:cNvPr>
          <p:cNvSpPr>
            <a:spLocks xmlns:a="http://schemas.openxmlformats.org/drawingml/2006/main" noGrp="1"/>
          </p:cNvSpPr>
          <p:nvPr/>
        </p:nvSpPr>
        <p:spPr>
          <a:xfrm xmlns:a="http://schemas.openxmlformats.org/drawingml/2006/main">
            <a:off x="3108960" y="2240280"/>
            <a:ext cx="54864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0F172A"/>
                </a:solidFill>
                <a:latin typeface="Calibri"/>
                <a:ea typeface="Calibri"/>
                <a:cs typeface="Calibri"/>
              </a:rPr>
              <a:t>Colleges and training institutes with placement cells</a:t>
            </a:r>
            <a:endParaRPr sz="1400"/>
          </a:p>
        </p:txBody>
      </p:sp>
      <p:sp>
        <p:nvSpPr>
          <p:cNvPr id="15" name="Shape 12">
            <a:extLst xmlns:a="http://schemas.openxmlformats.org/drawingml/2006/main">
              <a:ext uri="{FF2B5EF4-FFF2-40B4-BE49-F238E27FC236}">
                <a16:creationId xmlns:a16="http://schemas.microsoft.com/office/drawing/2014/main" id="{DDCC1178-E5B3-420E-8018-998DC7081078}"/>
              </a:ext>
            </a:extLst>
          </p:cNvPr>
          <p:cNvSpPr>
            <a:spLocks xmlns:a="http://schemas.openxmlformats.org/drawingml/2006/main" noGrp="1"/>
          </p:cNvSpPr>
          <p:nvPr/>
        </p:nvSpPr>
        <p:spPr>
          <a:xfrm xmlns:a="http://schemas.openxmlformats.org/drawingml/2006/main">
            <a:off x="457200" y="2971800"/>
            <a:ext cx="2377440" cy="594360"/>
          </a:xfrm>
          <a:prstGeom xmlns:a="http://schemas.openxmlformats.org/drawingml/2006/main" prst="roundRect">
            <a:avLst>
              <a:gd name="adj" fmla="val 12308"/>
            </a:avLst>
          </a:prstGeom>
          <a:solidFill xmlns:a="http://schemas.openxmlformats.org/drawingml/2006/main">
            <a:srgbClr val="3730A3"/>
          </a:solidFill>
        </p:spPr>
      </p:sp>
      <p:sp>
        <p:nvSpPr>
          <p:cNvPr id="16" name="Text 13">
            <a:extLst xmlns:a="http://schemas.openxmlformats.org/drawingml/2006/main">
              <a:ext uri="{FF2B5EF4-FFF2-40B4-BE49-F238E27FC236}">
                <a16:creationId xmlns:a16="http://schemas.microsoft.com/office/drawing/2014/main" id="{2F432B15-6121-4DC9-B775-8E41A657A230}"/>
              </a:ext>
            </a:extLst>
          </p:cNvPr>
          <p:cNvSpPr>
            <a:spLocks xmlns:a="http://schemas.openxmlformats.org/drawingml/2006/main" noGrp="1"/>
          </p:cNvSpPr>
          <p:nvPr/>
        </p:nvSpPr>
        <p:spPr>
          <a:xfrm xmlns:a="http://schemas.openxmlformats.org/drawingml/2006/main">
            <a:off x="594360" y="2971800"/>
            <a:ext cx="21031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Value hypothesis</a:t>
            </a:r>
            <a:endParaRPr sz="1500"/>
          </a:p>
        </p:txBody>
      </p:sp>
      <p:sp>
        <p:nvSpPr>
          <p:cNvPr id="17" name="Shape 14">
            <a:extLst xmlns:a="http://schemas.openxmlformats.org/drawingml/2006/main">
              <a:ext uri="{FF2B5EF4-FFF2-40B4-BE49-F238E27FC236}">
                <a16:creationId xmlns:a16="http://schemas.microsoft.com/office/drawing/2014/main" id="{B498E4B7-5CA3-437E-844E-EA8B68AAA427}"/>
              </a:ext>
            </a:extLst>
          </p:cNvPr>
          <p:cNvSpPr>
            <a:spLocks xmlns:a="http://schemas.openxmlformats.org/drawingml/2006/main" noGrp="1"/>
          </p:cNvSpPr>
          <p:nvPr/>
        </p:nvSpPr>
        <p:spPr>
          <a:xfrm xmlns:a="http://schemas.openxmlformats.org/drawingml/2006/main">
            <a:off x="2926080" y="2971800"/>
            <a:ext cx="5760720" cy="594360"/>
          </a:xfrm>
          <a:prstGeom xmlns:a="http://schemas.openxmlformats.org/drawingml/2006/main" prst="roundRect">
            <a:avLst>
              <a:gd name="adj" fmla="val 12308"/>
            </a:avLst>
          </a:prstGeom>
          <a:solidFill xmlns:a="http://schemas.openxmlformats.org/drawingml/2006/main">
            <a:srgbClr val="F8FAFC"/>
          </a:solidFill>
          <a:ln xmlns:a="http://schemas.openxmlformats.org/drawingml/2006/main" w="12700">
            <a:solidFill>
              <a:srgbClr val="CBD5E1"/>
            </a:solidFill>
            <a:prstDash val="solid"/>
          </a:ln>
        </p:spPr>
      </p:sp>
      <p:sp>
        <p:nvSpPr>
          <p:cNvPr id="18" name="Text 15">
            <a:extLst xmlns:a="http://schemas.openxmlformats.org/drawingml/2006/main">
              <a:ext uri="{FF2B5EF4-FFF2-40B4-BE49-F238E27FC236}">
                <a16:creationId xmlns:a16="http://schemas.microsoft.com/office/drawing/2014/main" id="{EC8CB94A-71E2-4237-8765-FC577DE3F547}"/>
              </a:ext>
            </a:extLst>
          </p:cNvPr>
          <p:cNvSpPr>
            <a:spLocks xmlns:a="http://schemas.openxmlformats.org/drawingml/2006/main" noGrp="1"/>
          </p:cNvSpPr>
          <p:nvPr/>
        </p:nvSpPr>
        <p:spPr>
          <a:xfrm xmlns:a="http://schemas.openxmlformats.org/drawingml/2006/main">
            <a:off x="3108960" y="2971800"/>
            <a:ext cx="54864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0F172A"/>
                </a:solidFill>
                <a:latin typeface="Calibri"/>
                <a:ea typeface="Calibri"/>
                <a:cs typeface="Calibri"/>
              </a:rPr>
              <a:t>Repeatable role-based practice with a report to review</a:t>
            </a:r>
            <a:endParaRPr sz="1400"/>
          </a:p>
        </p:txBody>
      </p:sp>
      <p:sp>
        <p:nvSpPr>
          <p:cNvPr id="19" name="Shape 16">
            <a:extLst xmlns:a="http://schemas.openxmlformats.org/drawingml/2006/main">
              <a:ext uri="{FF2B5EF4-FFF2-40B4-BE49-F238E27FC236}">
                <a16:creationId xmlns:a16="http://schemas.microsoft.com/office/drawing/2014/main" id="{D14885FC-1EF3-4145-BD16-6EF4F0C22777}"/>
              </a:ext>
            </a:extLst>
          </p:cNvPr>
          <p:cNvSpPr>
            <a:spLocks xmlns:a="http://schemas.openxmlformats.org/drawingml/2006/main" noGrp="1"/>
          </p:cNvSpPr>
          <p:nvPr/>
        </p:nvSpPr>
        <p:spPr>
          <a:xfrm xmlns:a="http://schemas.openxmlformats.org/drawingml/2006/main">
            <a:off x="457200" y="3703320"/>
            <a:ext cx="2377440" cy="594360"/>
          </a:xfrm>
          <a:prstGeom xmlns:a="http://schemas.openxmlformats.org/drawingml/2006/main" prst="roundRect">
            <a:avLst>
              <a:gd name="adj" fmla="val 12308"/>
            </a:avLst>
          </a:prstGeom>
          <a:solidFill xmlns:a="http://schemas.openxmlformats.org/drawingml/2006/main">
            <a:srgbClr val="3730A3"/>
          </a:solidFill>
        </p:spPr>
      </p:sp>
      <p:sp>
        <p:nvSpPr>
          <p:cNvPr id="20" name="Text 17">
            <a:extLst xmlns:a="http://schemas.openxmlformats.org/drawingml/2006/main">
              <a:ext uri="{FF2B5EF4-FFF2-40B4-BE49-F238E27FC236}">
                <a16:creationId xmlns:a16="http://schemas.microsoft.com/office/drawing/2014/main" id="{E844B37F-B8CD-47CF-A8FA-EC35068483F1}"/>
              </a:ext>
            </a:extLst>
          </p:cNvPr>
          <p:cNvSpPr>
            <a:spLocks xmlns:a="http://schemas.openxmlformats.org/drawingml/2006/main" noGrp="1"/>
          </p:cNvSpPr>
          <p:nvPr/>
        </p:nvSpPr>
        <p:spPr>
          <a:xfrm xmlns:a="http://schemas.openxmlformats.org/drawingml/2006/main">
            <a:off x="594360" y="3703320"/>
            <a:ext cx="21031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FFFF"/>
                </a:solidFill>
                <a:latin typeface="Calibri"/>
                <a:ea typeface="Calibri"/>
                <a:cs typeface="Calibri"/>
              </a:rPr>
              <a:t>Pilot to validate</a:t>
            </a:r>
            <a:endParaRPr sz="1500"/>
          </a:p>
        </p:txBody>
      </p:sp>
      <p:sp>
        <p:nvSpPr>
          <p:cNvPr id="21" name="Shape 18">
            <a:extLst xmlns:a="http://schemas.openxmlformats.org/drawingml/2006/main">
              <a:ext uri="{FF2B5EF4-FFF2-40B4-BE49-F238E27FC236}">
                <a16:creationId xmlns:a16="http://schemas.microsoft.com/office/drawing/2014/main" id="{59660BCF-8FD1-44FC-A97A-081412827B4D}"/>
              </a:ext>
            </a:extLst>
          </p:cNvPr>
          <p:cNvSpPr>
            <a:spLocks xmlns:a="http://schemas.openxmlformats.org/drawingml/2006/main" noGrp="1"/>
          </p:cNvSpPr>
          <p:nvPr/>
        </p:nvSpPr>
        <p:spPr>
          <a:xfrm xmlns:a="http://schemas.openxmlformats.org/drawingml/2006/main">
            <a:off x="2926080" y="3703320"/>
            <a:ext cx="5760720" cy="594360"/>
          </a:xfrm>
          <a:prstGeom xmlns:a="http://schemas.openxmlformats.org/drawingml/2006/main" prst="roundRect">
            <a:avLst>
              <a:gd name="adj" fmla="val 12308"/>
            </a:avLst>
          </a:prstGeom>
          <a:solidFill xmlns:a="http://schemas.openxmlformats.org/drawingml/2006/main">
            <a:srgbClr val="F8FAFC"/>
          </a:solidFill>
          <a:ln xmlns:a="http://schemas.openxmlformats.org/drawingml/2006/main" w="12700">
            <a:solidFill>
              <a:srgbClr val="CBD5E1"/>
            </a:solidFill>
            <a:prstDash val="solid"/>
          </a:ln>
        </p:spPr>
      </p:sp>
      <p:sp>
        <p:nvSpPr>
          <p:cNvPr id="22" name="Text 19">
            <a:extLst xmlns:a="http://schemas.openxmlformats.org/drawingml/2006/main">
              <a:ext uri="{FF2B5EF4-FFF2-40B4-BE49-F238E27FC236}">
                <a16:creationId xmlns:a16="http://schemas.microsoft.com/office/drawing/2014/main" id="{32963A57-9756-40BB-9FE6-4FD05FE87350}"/>
              </a:ext>
            </a:extLst>
          </p:cNvPr>
          <p:cNvSpPr>
            <a:spLocks xmlns:a="http://schemas.openxmlformats.org/drawingml/2006/main" noGrp="1"/>
          </p:cNvSpPr>
          <p:nvPr/>
        </p:nvSpPr>
        <p:spPr>
          <a:xfrm xmlns:a="http://schemas.openxmlformats.org/drawingml/2006/main">
            <a:off x="3108960" y="3703320"/>
            <a:ext cx="548640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i="0">
                <a:solidFill>
                  <a:srgbClr val="0F172A"/>
                </a:solidFill>
              </a:defRPr>
            </a:defPPr>
          </a:lstStyle>
          <a:p xmlns:a="http://schemas.openxmlformats.org/drawingml/2006/main">
            <a:pPr marL="0" indent="0">
              <a:buNone/>
              <a:defRPr i="0">
                <a:solidFill>
                  <a:srgbClr val="0F172A"/>
                </a:solidFill>
              </a:defRPr>
            </a:pPr>
            <a:r>
              <a:rPr sz="1400" i="0">
                <a:solidFill>
                  <a:srgbClr val="0F172A"/>
                </a:solidFill>
                <a:latin typeface="Calibri"/>
                <a:ea typeface="Calibri"/>
                <a:cs typeface="Calibri"/>
              </a:rPr>
              <a:t>Measure completion, repeat practice, and usefulness of feedback</a:t>
            </a:r>
            <a:endParaRPr sz="1400"/>
          </a:p>
        </p:txBody>
      </p:sp>
    </p:spTree>
    <p:extLst>
      <p:ext uri="{BB962C8B-B14F-4D97-AF65-F5344CB8AC3E}">
        <p14:creationId xmlns:p14="http://schemas.microsoft.com/office/powerpoint/2010/main" val="188027238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E2845B6-AEE6-4CAA-8BA7-75DDEF483B27}"/>
              </a:ext>
            </a:extLst>
          </p:cNvPr>
          <p:cNvSpPr>
            <a:spLocks xmlns:a="http://schemas.openxmlformats.org/drawingml/2006/main" noGrp="1"/>
          </p:cNvSpPr>
          <p:nvPr/>
        </p:nvSpPr>
        <p:spPr>
          <a:xfrm xmlns:a="http://schemas.openxmlformats.org/drawingml/2006/main">
            <a:off x="0" y="0"/>
            <a:ext cx="109728" cy="5143500"/>
          </a:xfrm>
          <a:prstGeom xmlns:a="http://schemas.openxmlformats.org/drawingml/2006/main" prst="rect">
            <a:avLst/>
          </a:prstGeom>
          <a:solidFill xmlns:a="http://schemas.openxmlformats.org/drawingml/2006/main">
            <a:srgbClr val="3730A3"/>
          </a:solidFill>
        </p:spPr>
      </p:sp>
      <p:sp>
        <p:nvSpPr>
          <p:cNvPr id="3" name="Text 1">
            <a:extLst xmlns:a="http://schemas.openxmlformats.org/drawingml/2006/main">
              <a:ext uri="{FF2B5EF4-FFF2-40B4-BE49-F238E27FC236}">
                <a16:creationId xmlns:a16="http://schemas.microsoft.com/office/drawing/2014/main" id="{BC2B245F-4885-4551-8198-4D034B2BB00E}"/>
              </a:ext>
            </a:extLst>
          </p:cNvPr>
          <p:cNvSpPr>
            <a:spLocks xmlns:a="http://schemas.openxmlformats.org/drawingml/2006/main" noGrp="1"/>
          </p:cNvSpPr>
          <p:nvPr/>
        </p:nvSpPr>
        <p:spPr>
          <a:xfrm xmlns:a="http://schemas.openxmlformats.org/drawingml/2006/main">
            <a:off x="457200" y="274320"/>
            <a:ext cx="8229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spc="200">
                <a:solidFill>
                  <a:srgbClr val="3730A3"/>
                </a:solidFill>
                <a:latin typeface="Calibri"/>
                <a:ea typeface="Calibri"/>
                <a:cs typeface="Calibri"/>
              </a:rPr>
              <a:t>ROADMAP</a:t>
            </a:r>
            <a:endParaRPr sz="1200"/>
          </a:p>
        </p:txBody>
      </p:sp>
      <p:sp>
        <p:nvSpPr>
          <p:cNvPr id="4" name="Text 2">
            <a:extLst xmlns:a="http://schemas.openxmlformats.org/drawingml/2006/main">
              <a:ext uri="{FF2B5EF4-FFF2-40B4-BE49-F238E27FC236}">
                <a16:creationId xmlns:a16="http://schemas.microsoft.com/office/drawing/2014/main" id="{9EBA580E-0732-499A-BDCD-1CB303922649}"/>
              </a:ext>
            </a:extLst>
          </p:cNvPr>
          <p:cNvSpPr>
            <a:spLocks xmlns:a="http://schemas.openxmlformats.org/drawingml/2006/main" noGrp="1"/>
          </p:cNvSpPr>
          <p:nvPr/>
        </p:nvSpPr>
        <p:spPr>
          <a:xfrm xmlns:a="http://schemas.openxmlformats.org/drawingml/2006/main">
            <a:off x="457200" y="548640"/>
            <a:ext cx="8229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800" b="1">
                <a:solidFill>
                  <a:srgbClr val="0F172A"/>
                </a:solidFill>
                <a:latin typeface="Calibri"/>
                <a:ea typeface="Calibri"/>
                <a:cs typeface="Calibri"/>
              </a:rPr>
              <a:t>What is live, and what comes next</a:t>
            </a:r>
            <a:endParaRPr sz="2800"/>
          </a:p>
        </p:txBody>
      </p:sp>
      <p:sp>
        <p:nvSpPr>
          <p:cNvPr id="5" name="Text 3">
            <a:extLst xmlns:a="http://schemas.openxmlformats.org/drawingml/2006/main">
              <a:ext uri="{FF2B5EF4-FFF2-40B4-BE49-F238E27FC236}">
                <a16:creationId xmlns:a16="http://schemas.microsoft.com/office/drawing/2014/main" id="{AB25C186-C956-4611-BBFD-243927D8DFE5}"/>
              </a:ext>
            </a:extLst>
          </p:cNvPr>
          <p:cNvSpPr>
            <a:spLocks xmlns:a="http://schemas.openxmlformats.org/drawingml/2006/main" noGrp="1"/>
          </p:cNvSpPr>
          <p:nvPr/>
        </p:nvSpPr>
        <p:spPr>
          <a:xfrm xmlns:a="http://schemas.openxmlformats.org/drawingml/2006/main">
            <a:off x="457200" y="4754880"/>
            <a:ext cx="82296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475569"/>
                </a:solidFill>
                <a:latin typeface="Calibri"/>
                <a:ea typeface="Calibri"/>
                <a:cs typeface="Calibri"/>
              </a:rPr>
              <a:t>PulsePrep  |  Skill Tank track  |  14</a:t>
            </a:r>
            <a:endParaRPr sz="1000"/>
          </a:p>
        </p:txBody>
      </p:sp>
      <p:sp>
        <p:nvSpPr>
          <p:cNvPr id="7" name="Shape 4">
            <a:extLst xmlns:a="http://schemas.openxmlformats.org/drawingml/2006/main">
              <a:ext uri="{FF2B5EF4-FFF2-40B4-BE49-F238E27FC236}">
                <a16:creationId xmlns:a16="http://schemas.microsoft.com/office/drawing/2014/main" id="{BCC7102E-5A6E-4869-8F47-2900A8FF2DE6}"/>
              </a:ext>
            </a:extLst>
          </p:cNvPr>
          <p:cNvSpPr>
            <a:spLocks xmlns:a="http://schemas.openxmlformats.org/drawingml/2006/main" noGrp="1"/>
          </p:cNvSpPr>
          <p:nvPr/>
        </p:nvSpPr>
        <p:spPr>
          <a:xfrm xmlns:a="http://schemas.openxmlformats.org/drawingml/2006/main">
            <a:off x="457200" y="1463040"/>
            <a:ext cx="2606040" cy="2651760"/>
          </a:xfrm>
          <a:prstGeom xmlns:a="http://schemas.openxmlformats.org/drawingml/2006/main" prst="roundRect">
            <a:avLst>
              <a:gd name="adj" fmla="val 2807"/>
            </a:avLst>
          </a:prstGeom>
          <a:solidFill xmlns:a="http://schemas.openxmlformats.org/drawingml/2006/main">
            <a:srgbClr val="3730A3"/>
          </a:solidFill>
        </p:spPr>
      </p:sp>
      <p:sp>
        <p:nvSpPr>
          <p:cNvPr id="8" name="Text 5">
            <a:extLst xmlns:a="http://schemas.openxmlformats.org/drawingml/2006/main">
              <a:ext uri="{FF2B5EF4-FFF2-40B4-BE49-F238E27FC236}">
                <a16:creationId xmlns:a16="http://schemas.microsoft.com/office/drawing/2014/main" id="{FCB3059E-EB80-4F13-A28C-7B6FA8D183BA}"/>
              </a:ext>
            </a:extLst>
          </p:cNvPr>
          <p:cNvSpPr>
            <a:spLocks xmlns:a="http://schemas.openxmlformats.org/drawingml/2006/main" noGrp="1"/>
          </p:cNvSpPr>
          <p:nvPr/>
        </p:nvSpPr>
        <p:spPr>
          <a:xfrm xmlns:a="http://schemas.openxmlformats.org/drawingml/2006/main">
            <a:off x="640080" y="160020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FFFFFF"/>
                </a:solidFill>
                <a:latin typeface="Calibri"/>
                <a:ea typeface="Calibri"/>
                <a:cs typeface="Calibri"/>
              </a:rPr>
              <a:t>Now (MVP)</a:t>
            </a:r>
            <a:endParaRPr sz="1600"/>
          </a:p>
        </p:txBody>
      </p:sp>
      <p:sp>
        <p:nvSpPr>
          <p:cNvPr id="9" name="Text 6">
            <a:extLst xmlns:a="http://schemas.openxmlformats.org/drawingml/2006/main">
              <a:ext uri="{FF2B5EF4-FFF2-40B4-BE49-F238E27FC236}">
                <a16:creationId xmlns:a16="http://schemas.microsoft.com/office/drawing/2014/main" id="{B0DE9EA1-A098-4C54-BDFC-50FAABCA6C43}"/>
              </a:ext>
            </a:extLst>
          </p:cNvPr>
          <p:cNvSpPr>
            <a:spLocks xmlns:a="http://schemas.openxmlformats.org/drawingml/2006/main" noGrp="1"/>
          </p:cNvSpPr>
          <p:nvPr/>
        </p:nvSpPr>
        <p:spPr>
          <a:xfrm xmlns:a="http://schemas.openxmlformats.org/drawingml/2006/main">
            <a:off x="640080" y="2057400"/>
            <a:ext cx="22860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300">
                <a:solidFill>
                  <a:srgbClr val="FFFFFF"/>
                </a:solidFill>
                <a:latin typeface="Calibri"/>
                <a:ea typeface="Calibri"/>
                <a:cs typeface="Calibri"/>
              </a:rPr>
              <a:t>Six roles / two modes</a:t>
            </a:r>
            <a:endParaRPr sz="1300"/>
          </a:p>
          <a:p xmlns:a="http://schemas.openxmlformats.org/drawingml/2006/main">
            <a:pPr marL="342900" indent="-342900">
              <a:spcAft>
                <a:spcPts val="600"/>
              </a:spcAft>
              <a:buSzPct val="100000"/>
              <a:buChar char="•"/>
            </a:pPr>
            <a:r>
              <a:rPr sz="1300">
                <a:solidFill>
                  <a:srgbClr val="FFFFFF"/>
                </a:solidFill>
                <a:latin typeface="Calibri"/>
                <a:ea typeface="Calibri"/>
                <a:cs typeface="Calibri"/>
              </a:rPr>
              <a:t>Better Auth + Convex history</a:t>
            </a:r>
            <a:endParaRPr sz="1300"/>
          </a:p>
          <a:p xmlns:a="http://schemas.openxmlformats.org/drawingml/2006/main">
            <a:pPr marL="342900" indent="-342900">
              <a:spcAft>
                <a:spcPts val="600"/>
              </a:spcAft>
              <a:buSzPct val="100000"/>
              <a:buChar char="•"/>
            </a:pPr>
            <a:r>
              <a:rPr sz="1300">
                <a:solidFill>
                  <a:srgbClr val="FFFFFF"/>
                </a:solidFill>
                <a:latin typeface="Calibri"/>
                <a:ea typeface="Calibri"/>
                <a:cs typeface="Calibri"/>
              </a:rPr>
              <a:t>Reports / PDF / dark mode</a:t>
            </a:r>
            <a:endParaRPr sz="1300"/>
          </a:p>
          <a:p xmlns:a="http://schemas.openxmlformats.org/drawingml/2006/main">
            <a:pPr marL="342900" indent="-342900">
              <a:spcAft>
                <a:spcPts val="600"/>
              </a:spcAft>
              <a:buSzPct val="100000"/>
              <a:buChar char="•"/>
            </a:pPr>
            <a:r>
              <a:rPr sz="1300">
                <a:solidFill>
                  <a:srgbClr val="FFFFFF"/>
                </a:solidFill>
                <a:latin typeface="Calibri"/>
                <a:ea typeface="Calibri"/>
                <a:cs typeface="Calibri"/>
              </a:rPr>
              <a:t>Optional reference inputs</a:t>
            </a:r>
            <a:endParaRPr sz="1300"/>
          </a:p>
        </p:txBody>
      </p:sp>
      <p:sp>
        <p:nvSpPr>
          <p:cNvPr id="10" name="Shape 7">
            <a:extLst xmlns:a="http://schemas.openxmlformats.org/drawingml/2006/main">
              <a:ext uri="{FF2B5EF4-FFF2-40B4-BE49-F238E27FC236}">
                <a16:creationId xmlns:a16="http://schemas.microsoft.com/office/drawing/2014/main" id="{D55539CD-B925-455D-9B20-A27E7D05DD0D}"/>
              </a:ext>
            </a:extLst>
          </p:cNvPr>
          <p:cNvSpPr>
            <a:spLocks xmlns:a="http://schemas.openxmlformats.org/drawingml/2006/main" noGrp="1"/>
          </p:cNvSpPr>
          <p:nvPr/>
        </p:nvSpPr>
        <p:spPr>
          <a:xfrm xmlns:a="http://schemas.openxmlformats.org/drawingml/2006/main">
            <a:off x="3291840" y="1463040"/>
            <a:ext cx="2606040" cy="2651760"/>
          </a:xfrm>
          <a:prstGeom xmlns:a="http://schemas.openxmlformats.org/drawingml/2006/main" prst="roundRect">
            <a:avLst>
              <a:gd name="adj" fmla="val 2807"/>
            </a:avLst>
          </a:prstGeom>
          <a:solidFill xmlns:a="http://schemas.openxmlformats.org/drawingml/2006/main">
            <a:srgbClr val="EEF2FF"/>
          </a:solidFill>
        </p:spPr>
      </p:sp>
      <p:sp>
        <p:nvSpPr>
          <p:cNvPr id="11" name="Text 8">
            <a:extLst xmlns:a="http://schemas.openxmlformats.org/drawingml/2006/main">
              <a:ext uri="{FF2B5EF4-FFF2-40B4-BE49-F238E27FC236}">
                <a16:creationId xmlns:a16="http://schemas.microsoft.com/office/drawing/2014/main" id="{0A824DC9-92DC-4271-BCBC-AC969BBCCBE7}"/>
              </a:ext>
            </a:extLst>
          </p:cNvPr>
          <p:cNvSpPr>
            <a:spLocks xmlns:a="http://schemas.openxmlformats.org/drawingml/2006/main" noGrp="1"/>
          </p:cNvSpPr>
          <p:nvPr/>
        </p:nvSpPr>
        <p:spPr>
          <a:xfrm xmlns:a="http://schemas.openxmlformats.org/drawingml/2006/main">
            <a:off x="3474720" y="160020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730A3"/>
                </a:solidFill>
                <a:latin typeface="Calibri"/>
                <a:ea typeface="Calibri"/>
                <a:cs typeface="Calibri"/>
              </a:rPr>
              <a:t>Next</a:t>
            </a:r>
            <a:endParaRPr sz="1600"/>
          </a:p>
        </p:txBody>
      </p:sp>
      <p:sp>
        <p:nvSpPr>
          <p:cNvPr id="12" name="Text 9">
            <a:extLst xmlns:a="http://schemas.openxmlformats.org/drawingml/2006/main">
              <a:ext uri="{FF2B5EF4-FFF2-40B4-BE49-F238E27FC236}">
                <a16:creationId xmlns:a16="http://schemas.microsoft.com/office/drawing/2014/main" id="{BAB4CA4A-030F-4C0C-8041-CCE7C7FA2C98}"/>
              </a:ext>
            </a:extLst>
          </p:cNvPr>
          <p:cNvSpPr>
            <a:spLocks xmlns:a="http://schemas.openxmlformats.org/drawingml/2006/main" noGrp="1"/>
          </p:cNvSpPr>
          <p:nvPr/>
        </p:nvSpPr>
        <p:spPr>
          <a:xfrm xmlns:a="http://schemas.openxmlformats.org/drawingml/2006/main">
            <a:off x="3474720" y="2057400"/>
            <a:ext cx="22860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300">
                <a:solidFill>
                  <a:srgbClr val="0F172A"/>
                </a:solidFill>
                <a:latin typeface="Calibri"/>
                <a:ea typeface="Calibri"/>
                <a:cs typeface="Calibri"/>
              </a:rPr>
              <a:t>Supported Gemini integration</a:t>
            </a:r>
            <a:endParaRPr sz="1300"/>
          </a:p>
          <a:p xmlns:a="http://schemas.openxmlformats.org/drawingml/2006/main">
            <a:pPr marL="342900" indent="-342900">
              <a:spcAft>
                <a:spcPts val="600"/>
              </a:spcAft>
              <a:buSzPct val="100000"/>
              <a:buChar char="•"/>
            </a:pPr>
            <a:r>
              <a:rPr sz="1300">
                <a:solidFill>
                  <a:srgbClr val="0F172A"/>
                </a:solidFill>
                <a:latin typeface="Calibri"/>
                <a:ea typeface="Calibri"/>
                <a:cs typeface="Calibri"/>
              </a:rPr>
              <a:t>Feedback quality evaluation</a:t>
            </a:r>
            <a:endParaRPr sz="1300"/>
          </a:p>
          <a:p xmlns:a="http://schemas.openxmlformats.org/drawingml/2006/main">
            <a:pPr marL="342900" indent="-342900">
              <a:spcAft>
                <a:spcPts val="600"/>
              </a:spcAft>
              <a:buSzPct val="100000"/>
              <a:buChar char="•"/>
            </a:pPr>
            <a:r>
              <a:rPr sz="1300">
                <a:solidFill>
                  <a:srgbClr val="0F172A"/>
                </a:solidFill>
                <a:latin typeface="Calibri"/>
                <a:ea typeface="Calibri"/>
                <a:cs typeface="Calibri"/>
              </a:rPr>
              <a:t>Email recovery / verification</a:t>
            </a:r>
            <a:endParaRPr sz="1300"/>
          </a:p>
          <a:p xmlns:a="http://schemas.openxmlformats.org/drawingml/2006/main">
            <a:pPr marL="342900" indent="-342900">
              <a:spcAft>
                <a:spcPts val="600"/>
              </a:spcAft>
              <a:buSzPct val="100000"/>
              <a:buChar char="•"/>
            </a:pPr>
            <a:r>
              <a:rPr sz="1300">
                <a:solidFill>
                  <a:srgbClr val="0F172A"/>
                </a:solidFill>
                <a:latin typeface="Calibri"/>
                <a:ea typeface="Calibri"/>
                <a:cs typeface="Calibri"/>
              </a:rPr>
              <a:t>Deeper opt-in personalization</a:t>
            </a:r>
            <a:endParaRPr sz="1300"/>
          </a:p>
        </p:txBody>
      </p:sp>
      <p:sp>
        <p:nvSpPr>
          <p:cNvPr id="13" name="Shape 10">
            <a:extLst xmlns:a="http://schemas.openxmlformats.org/drawingml/2006/main">
              <a:ext uri="{FF2B5EF4-FFF2-40B4-BE49-F238E27FC236}">
                <a16:creationId xmlns:a16="http://schemas.microsoft.com/office/drawing/2014/main" id="{0F6626FC-9BE0-4328-BD2F-4CC00C3B7DE2}"/>
              </a:ext>
            </a:extLst>
          </p:cNvPr>
          <p:cNvSpPr>
            <a:spLocks xmlns:a="http://schemas.openxmlformats.org/drawingml/2006/main" noGrp="1"/>
          </p:cNvSpPr>
          <p:nvPr/>
        </p:nvSpPr>
        <p:spPr>
          <a:xfrm xmlns:a="http://schemas.openxmlformats.org/drawingml/2006/main">
            <a:off x="6126480" y="1463040"/>
            <a:ext cx="2606040" cy="2651760"/>
          </a:xfrm>
          <a:prstGeom xmlns:a="http://schemas.openxmlformats.org/drawingml/2006/main" prst="roundRect">
            <a:avLst>
              <a:gd name="adj" fmla="val 2807"/>
            </a:avLst>
          </a:prstGeom>
          <a:solidFill xmlns:a="http://schemas.openxmlformats.org/drawingml/2006/main">
            <a:srgbClr val="EEF2FF"/>
          </a:solidFill>
        </p:spPr>
      </p:sp>
      <p:sp>
        <p:nvSpPr>
          <p:cNvPr id="14" name="Text 11">
            <a:extLst xmlns:a="http://schemas.openxmlformats.org/drawingml/2006/main">
              <a:ext uri="{FF2B5EF4-FFF2-40B4-BE49-F238E27FC236}">
                <a16:creationId xmlns:a16="http://schemas.microsoft.com/office/drawing/2014/main" id="{0E64FEC7-4D7B-4392-94FE-A3058BAAFE60}"/>
              </a:ext>
            </a:extLst>
          </p:cNvPr>
          <p:cNvSpPr>
            <a:spLocks xmlns:a="http://schemas.openxmlformats.org/drawingml/2006/main" noGrp="1"/>
          </p:cNvSpPr>
          <p:nvPr/>
        </p:nvSpPr>
        <p:spPr>
          <a:xfrm xmlns:a="http://schemas.openxmlformats.org/drawingml/2006/main">
            <a:off x="6309360" y="1600200"/>
            <a:ext cx="22860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3730A3"/>
                </a:solidFill>
                <a:latin typeface="Calibri"/>
                <a:ea typeface="Calibri"/>
                <a:cs typeface="Calibri"/>
              </a:rPr>
              <a:t>Later</a:t>
            </a:r>
            <a:endParaRPr sz="1600"/>
          </a:p>
        </p:txBody>
      </p:sp>
      <p:sp>
        <p:nvSpPr>
          <p:cNvPr id="15" name="Text 12">
            <a:extLst xmlns:a="http://schemas.openxmlformats.org/drawingml/2006/main">
              <a:ext uri="{FF2B5EF4-FFF2-40B4-BE49-F238E27FC236}">
                <a16:creationId xmlns:a16="http://schemas.microsoft.com/office/drawing/2014/main" id="{9C1AE540-2B8A-4A06-AA8D-36701ECCD667}"/>
              </a:ext>
            </a:extLst>
          </p:cNvPr>
          <p:cNvSpPr>
            <a:spLocks xmlns:a="http://schemas.openxmlformats.org/drawingml/2006/main" noGrp="1"/>
          </p:cNvSpPr>
          <p:nvPr/>
        </p:nvSpPr>
        <p:spPr>
          <a:xfrm xmlns:a="http://schemas.openxmlformats.org/drawingml/2006/main">
            <a:off x="6309360" y="2057400"/>
            <a:ext cx="2286000"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600"/>
              </a:spcAft>
              <a:buSzPct val="100000"/>
              <a:buChar char="•"/>
            </a:pPr>
            <a:r>
              <a:rPr sz="1300">
                <a:solidFill>
                  <a:srgbClr val="0F172A"/>
                </a:solidFill>
                <a:latin typeface="Calibri"/>
                <a:ea typeface="Calibri"/>
                <a:cs typeface="Calibri"/>
              </a:rPr>
              <a:t>Voice and delivery practice</a:t>
            </a:r>
            <a:endParaRPr sz="1300"/>
          </a:p>
          <a:p xmlns:a="http://schemas.openxmlformats.org/drawingml/2006/main">
            <a:pPr marL="342900" indent="-342900">
              <a:spcAft>
                <a:spcPts val="600"/>
              </a:spcAft>
              <a:buSzPct val="100000"/>
              <a:buChar char="•"/>
            </a:pPr>
            <a:r>
              <a:rPr sz="1300">
                <a:solidFill>
                  <a:srgbClr val="0F172A"/>
                </a:solidFill>
                <a:latin typeface="Calibri"/>
                <a:ea typeface="Calibri"/>
                <a:cs typeface="Calibri"/>
              </a:rPr>
              <a:t>College placement dashboard</a:t>
            </a:r>
            <a:endParaRPr sz="1300"/>
          </a:p>
          <a:p xmlns:a="http://schemas.openxmlformats.org/drawingml/2006/main">
            <a:pPr marL="342900" indent="-342900">
              <a:spcAft>
                <a:spcPts val="600"/>
              </a:spcAft>
              <a:buSzPct val="100000"/>
              <a:buChar char="•"/>
            </a:pPr>
            <a:r>
              <a:rPr sz="1300">
                <a:solidFill>
                  <a:srgbClr val="0F172A"/>
                </a:solidFill>
                <a:latin typeface="Calibri"/>
                <a:ea typeface="Calibri"/>
                <a:cs typeface="Calibri"/>
              </a:rPr>
              <a:t>Trainer review workflow</a:t>
            </a:r>
            <a:endParaRPr sz="1300"/>
          </a:p>
          <a:p xmlns:a="http://schemas.openxmlformats.org/drawingml/2006/main">
            <a:pPr marL="342900" indent="-342900">
              <a:spcAft>
                <a:spcPts val="600"/>
              </a:spcAft>
              <a:buSzPct val="100000"/>
              <a:buChar char="•"/>
            </a:pPr>
            <a:r>
              <a:rPr sz="1300">
                <a:solidFill>
                  <a:srgbClr val="0F172A"/>
                </a:solidFill>
                <a:latin typeface="Calibri"/>
                <a:ea typeface="Calibri"/>
                <a:cs typeface="Calibri"/>
              </a:rPr>
              <a:t>Company-specific question banks</a:t>
            </a:r>
            <a:endParaRPr sz="1300"/>
          </a:p>
        </p:txBody>
      </p:sp>
      <p:sp>
        <p:nvSpPr>
          <p:cNvPr id="16" name="Shape 13">
            <a:extLst xmlns:a="http://schemas.openxmlformats.org/drawingml/2006/main">
              <a:ext uri="{FF2B5EF4-FFF2-40B4-BE49-F238E27FC236}">
                <a16:creationId xmlns:a16="http://schemas.microsoft.com/office/drawing/2014/main" id="{EA7C6C64-BDD1-48A5-B878-0757DDBAA7CF}"/>
              </a:ext>
            </a:extLst>
          </p:cNvPr>
          <p:cNvSpPr>
            <a:spLocks xmlns:a="http://schemas.openxmlformats.org/drawingml/2006/main" noGrp="1"/>
          </p:cNvSpPr>
          <p:nvPr/>
        </p:nvSpPr>
        <p:spPr>
          <a:xfrm xmlns:a="http://schemas.openxmlformats.org/drawingml/2006/main">
            <a:off x="457200" y="4297680"/>
            <a:ext cx="8229600" cy="411480"/>
          </a:xfrm>
          <a:prstGeom xmlns:a="http://schemas.openxmlformats.org/drawingml/2006/main" prst="roundRect">
            <a:avLst>
              <a:gd name="adj" fmla="val 17778"/>
            </a:avLst>
          </a:prstGeom>
          <a:solidFill xmlns:a="http://schemas.openxmlformats.org/drawingml/2006/main">
            <a:srgbClr val="F8FAFC"/>
          </a:solidFill>
          <a:ln xmlns:a="http://schemas.openxmlformats.org/drawingml/2006/main" w="12700">
            <a:solidFill>
              <a:srgbClr val="CBD5E1"/>
            </a:solidFill>
            <a:prstDash val="solid"/>
          </a:ln>
        </p:spPr>
      </p:sp>
      <p:sp>
        <p:nvSpPr>
          <p:cNvPr id="17" name="Text 14">
            <a:extLst xmlns:a="http://schemas.openxmlformats.org/drawingml/2006/main">
              <a:ext uri="{FF2B5EF4-FFF2-40B4-BE49-F238E27FC236}">
                <a16:creationId xmlns:a16="http://schemas.microsoft.com/office/drawing/2014/main" id="{3DD77444-5F03-4824-A751-3A15098BA9E8}"/>
              </a:ext>
            </a:extLst>
          </p:cNvPr>
          <p:cNvSpPr>
            <a:spLocks xmlns:a="http://schemas.openxmlformats.org/drawingml/2006/main" noGrp="1"/>
          </p:cNvSpPr>
          <p:nvPr/>
        </p:nvSpPr>
        <p:spPr>
          <a:xfrm xmlns:a="http://schemas.openxmlformats.org/drawingml/2006/main">
            <a:off x="640080" y="4297680"/>
            <a:ext cx="786384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3730A3"/>
                </a:solidFill>
                <a:latin typeface="Calibri"/>
                <a:ea typeface="Calibri"/>
                <a:cs typeface="Calibri"/>
                <a:hlinkClick xmlns:r="http://schemas.openxmlformats.org/officeDocument/2006/relationships" r:id="Rcf970ee796444e50"/>
              </a:rPr>
              <a:t>Open live demo</a:t>
            </a:r>
            <a:r>
              <a:rPr sz="1400" b="1">
                <a:solidFill>
                  <a:srgbClr val="3730A3"/>
                </a:solidFill>
                <a:latin typeface="Calibri"/>
                <a:ea typeface="Calibri"/>
                <a:cs typeface="Calibri"/>
              </a:rPr>
              <a:t>  |  </a:t>
            </a:r>
            <a:r>
              <a:rPr sz="1400" b="1">
                <a:solidFill>
                  <a:srgbClr val="3730A3"/>
                </a:solidFill>
                <a:latin typeface="Calibri"/>
                <a:ea typeface="Calibri"/>
                <a:cs typeface="Calibri"/>
                <a:hlinkClick xmlns:r="http://schemas.openxmlformats.org/officeDocument/2006/relationships" r:id="R004c535264724b16"/>
              </a:rPr>
              <a:t>GitHub: Blackster9263/level-1</a:t>
            </a:r>
            <a:r>
              <a:rPr sz="1400" b="1">
                <a:solidFill>
                  <a:srgbClr val="3730A3"/>
                </a:solidFill>
                <a:latin typeface="Calibri"/>
                <a:ea typeface="Calibri"/>
                <a:cs typeface="Calibri"/>
              </a:rPr>
              <a:t>  |  Questions?</a:t>
            </a:r>
            <a:endParaRPr sz="1400"/>
          </a:p>
        </p:txBody>
      </p:sp>
    </p:spTree>
    <p:extLst>
      <p:ext uri="{BB962C8B-B14F-4D97-AF65-F5344CB8AC3E}">
        <p14:creationId xmlns:p14="http://schemas.microsoft.com/office/powerpoint/2010/main" val="82127555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2026-10-11T03:27:22.8080000Z</dcterms:created>
  <dcterms:modified xsi:type="dcterms:W3CDTF">2026-10-11T03:27:22.8080000Z</dcterms:modified>
</coreProperties>
</file>